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Naslovna. Predstaviti temu: jedan jeftini node, ali s protokolom koji razlikuje lokalni noise od ground motiona.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Motivacija. Jedan akcelerometar ne razlikuje lokalni noise od ground motiona; zahtjev da se dva channela slože je najjeftinija diskriminacija.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731520" y="5048488"/>
            <a:ext cx="97533" cy="39211"/>
          </a:xfrm>
          <a:prstGeom prst="line">
            <a:avLst/>
          </a:prstGeom>
          <a:noFill/>
          <a:ln w="22225">
            <a:solidFill>
              <a:srgbClr val="E457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9053" y="5048488"/>
            <a:ext cx="97533" cy="32000"/>
          </a:xfrm>
          <a:prstGeom prst="line">
            <a:avLst/>
          </a:prstGeom>
          <a:noFill/>
          <a:ln w="22225">
            <a:solidFill>
              <a:srgbClr val="E457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26586" y="5080489"/>
            <a:ext cx="97533" cy="58568"/>
          </a:xfrm>
          <a:prstGeom prst="line">
            <a:avLst/>
          </a:prstGeom>
          <a:noFill/>
          <a:ln w="22225">
            <a:solidFill>
              <a:srgbClr val="E457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024120" y="5097592"/>
            <a:ext cx="97533" cy="41465"/>
          </a:xfrm>
          <a:prstGeom prst="line">
            <a:avLst/>
          </a:prstGeom>
          <a:noFill/>
          <a:ln w="22225">
            <a:solidFill>
              <a:srgbClr val="E457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121653" y="5078765"/>
            <a:ext cx="97533" cy="18827"/>
          </a:xfrm>
          <a:prstGeom prst="line">
            <a:avLst/>
          </a:prstGeom>
          <a:noFill/>
          <a:ln w="22225">
            <a:solidFill>
              <a:srgbClr val="E457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19186" y="5078765"/>
            <a:ext cx="97533" cy="44860"/>
          </a:xfrm>
          <a:prstGeom prst="line">
            <a:avLst/>
          </a:prstGeom>
          <a:noFill/>
          <a:ln w="22225">
            <a:solidFill>
              <a:srgbClr val="E457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16719" y="5123625"/>
            <a:ext cx="97533" cy="5982"/>
          </a:xfrm>
          <a:prstGeom prst="line">
            <a:avLst/>
          </a:prstGeom>
          <a:noFill/>
          <a:ln w="22225">
            <a:solidFill>
              <a:srgbClr val="E457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1414253" y="5018901"/>
            <a:ext cx="97533" cy="110707"/>
          </a:xfrm>
          <a:prstGeom prst="line">
            <a:avLst/>
          </a:prstGeom>
          <a:noFill/>
          <a:ln w="22225">
            <a:solidFill>
              <a:srgbClr val="E457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11786" y="5018901"/>
            <a:ext cx="97533" cy="121510"/>
          </a:xfrm>
          <a:prstGeom prst="line">
            <a:avLst/>
          </a:prstGeom>
          <a:noFill/>
          <a:ln w="22225">
            <a:solidFill>
              <a:srgbClr val="E457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1609319" y="5036686"/>
            <a:ext cx="97533" cy="103724"/>
          </a:xfrm>
          <a:prstGeom prst="line">
            <a:avLst/>
          </a:prstGeom>
          <a:noFill/>
          <a:ln w="22225">
            <a:solidFill>
              <a:srgbClr val="E4572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1706852" y="5034543"/>
            <a:ext cx="97533" cy="2144"/>
          </a:xfrm>
          <a:prstGeom prst="line">
            <a:avLst/>
          </a:prstGeom>
          <a:noFill/>
          <a:ln w="22225">
            <a:solidFill>
              <a:srgbClr val="E457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04386" y="5034543"/>
            <a:ext cx="97533" cy="105261"/>
          </a:xfrm>
          <a:prstGeom prst="line">
            <a:avLst/>
          </a:prstGeom>
          <a:noFill/>
          <a:ln w="22225">
            <a:solidFill>
              <a:srgbClr val="E4572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1901919" y="5016856"/>
            <a:ext cx="97533" cy="122947"/>
          </a:xfrm>
          <a:prstGeom prst="line">
            <a:avLst/>
          </a:prstGeom>
          <a:noFill/>
          <a:ln w="22225">
            <a:solidFill>
              <a:srgbClr val="E4572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99452" y="5016856"/>
            <a:ext cx="97533" cy="42798"/>
          </a:xfrm>
          <a:prstGeom prst="line">
            <a:avLst/>
          </a:prstGeom>
          <a:noFill/>
          <a:ln w="22225">
            <a:solidFill>
              <a:srgbClr val="E4572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V="1">
            <a:off x="2096985" y="5013067"/>
            <a:ext cx="97533" cy="46588"/>
          </a:xfrm>
          <a:prstGeom prst="line">
            <a:avLst/>
          </a:prstGeom>
          <a:noFill/>
          <a:ln w="22225">
            <a:solidFill>
              <a:srgbClr val="E4572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94518" y="5013067"/>
            <a:ext cx="97533" cy="5496"/>
          </a:xfrm>
          <a:prstGeom prst="line">
            <a:avLst/>
          </a:prstGeom>
          <a:noFill/>
          <a:ln w="22225">
            <a:solidFill>
              <a:srgbClr val="E4572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92052" y="5018563"/>
            <a:ext cx="97533" cy="79227"/>
          </a:xfrm>
          <a:prstGeom prst="line">
            <a:avLst/>
          </a:prstGeom>
          <a:noFill/>
          <a:ln w="22225">
            <a:solidFill>
              <a:srgbClr val="E4572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389585" y="5097790"/>
            <a:ext cx="97533" cy="32962"/>
          </a:xfrm>
          <a:prstGeom prst="line">
            <a:avLst/>
          </a:prstGeom>
          <a:noFill/>
          <a:ln w="22225">
            <a:solidFill>
              <a:srgbClr val="E4572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V="1">
            <a:off x="2487118" y="5115683"/>
            <a:ext cx="97533" cy="15068"/>
          </a:xfrm>
          <a:prstGeom prst="line">
            <a:avLst/>
          </a:prstGeom>
          <a:noFill/>
          <a:ln w="22225">
            <a:solidFill>
              <a:srgbClr val="E4572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2584651" y="5106683"/>
            <a:ext cx="97533" cy="9001"/>
          </a:xfrm>
          <a:prstGeom prst="line">
            <a:avLst/>
          </a:prstGeom>
          <a:noFill/>
          <a:ln w="22225">
            <a:solidFill>
              <a:srgbClr val="E4572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V="1">
            <a:off x="2682185" y="5017473"/>
            <a:ext cx="97533" cy="89210"/>
          </a:xfrm>
          <a:prstGeom prst="line">
            <a:avLst/>
          </a:prstGeom>
          <a:noFill/>
          <a:ln w="22225">
            <a:solidFill>
              <a:srgbClr val="E4572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79718" y="5017473"/>
            <a:ext cx="97533" cy="73001"/>
          </a:xfrm>
          <a:prstGeom prst="line">
            <a:avLst/>
          </a:prstGeom>
          <a:noFill/>
          <a:ln w="22225">
            <a:solidFill>
              <a:srgbClr val="E4572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V="1">
            <a:off x="2877251" y="5074388"/>
            <a:ext cx="97533" cy="16085"/>
          </a:xfrm>
          <a:prstGeom prst="line">
            <a:avLst/>
          </a:prstGeom>
          <a:noFill/>
          <a:ln w="22225">
            <a:solidFill>
              <a:srgbClr val="E4572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V="1">
            <a:off x="2974784" y="5035931"/>
            <a:ext cx="97533" cy="38457"/>
          </a:xfrm>
          <a:prstGeom prst="line">
            <a:avLst/>
          </a:prstGeom>
          <a:noFill/>
          <a:ln w="22225">
            <a:solidFill>
              <a:srgbClr val="E4572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072317" y="5035931"/>
            <a:ext cx="97533" cy="90647"/>
          </a:xfrm>
          <a:prstGeom prst="line">
            <a:avLst/>
          </a:prstGeom>
          <a:noFill/>
          <a:ln w="22225">
            <a:solidFill>
              <a:srgbClr val="E4572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V="1">
            <a:off x="3169851" y="5018157"/>
            <a:ext cx="97533" cy="108421"/>
          </a:xfrm>
          <a:prstGeom prst="line">
            <a:avLst/>
          </a:prstGeom>
          <a:noFill/>
          <a:ln w="22225">
            <a:solidFill>
              <a:srgbClr val="E4572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67384" y="5018157"/>
            <a:ext cx="97533" cy="96625"/>
          </a:xfrm>
          <a:prstGeom prst="line">
            <a:avLst/>
          </a:prstGeom>
          <a:noFill/>
          <a:ln w="22225">
            <a:solidFill>
              <a:srgbClr val="E4572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V="1">
            <a:off x="3364917" y="5028353"/>
            <a:ext cx="97533" cy="86429"/>
          </a:xfrm>
          <a:prstGeom prst="line">
            <a:avLst/>
          </a:prstGeom>
          <a:noFill/>
          <a:ln w="22225">
            <a:solidFill>
              <a:srgbClr val="E4572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V="1">
            <a:off x="3462450" y="5012665"/>
            <a:ext cx="97533" cy="15687"/>
          </a:xfrm>
          <a:prstGeom prst="line">
            <a:avLst/>
          </a:prstGeom>
          <a:noFill/>
          <a:ln w="22225">
            <a:solidFill>
              <a:srgbClr val="E4572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559984" y="5012665"/>
            <a:ext cx="97533" cy="90760"/>
          </a:xfrm>
          <a:prstGeom prst="line">
            <a:avLst/>
          </a:prstGeom>
          <a:noFill/>
          <a:ln w="22225">
            <a:solidFill>
              <a:srgbClr val="E4572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57517" y="5103426"/>
            <a:ext cx="97533" cy="2936"/>
          </a:xfrm>
          <a:prstGeom prst="line">
            <a:avLst/>
          </a:prstGeom>
          <a:noFill/>
          <a:ln w="22225">
            <a:solidFill>
              <a:srgbClr val="E4572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755050" y="5106362"/>
            <a:ext cx="97533" cy="16383"/>
          </a:xfrm>
          <a:prstGeom prst="line">
            <a:avLst/>
          </a:prstGeom>
          <a:noFill/>
          <a:ln w="22225">
            <a:solidFill>
              <a:srgbClr val="E4572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flipV="1">
            <a:off x="3852583" y="5116742"/>
            <a:ext cx="97533" cy="6003"/>
          </a:xfrm>
          <a:prstGeom prst="line">
            <a:avLst/>
          </a:prstGeom>
          <a:noFill/>
          <a:ln w="22225">
            <a:solidFill>
              <a:srgbClr val="E4572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950117" y="5116742"/>
            <a:ext cx="97533" cy="2401"/>
          </a:xfrm>
          <a:prstGeom prst="line">
            <a:avLst/>
          </a:prstGeom>
          <a:noFill/>
          <a:ln w="22225">
            <a:solidFill>
              <a:srgbClr val="E4572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flipV="1">
            <a:off x="4047650" y="5106852"/>
            <a:ext cx="97533" cy="12291"/>
          </a:xfrm>
          <a:prstGeom prst="line">
            <a:avLst/>
          </a:prstGeom>
          <a:noFill/>
          <a:ln w="22225">
            <a:solidFill>
              <a:srgbClr val="E4572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flipV="1">
            <a:off x="4145183" y="5013850"/>
            <a:ext cx="97533" cy="93002"/>
          </a:xfrm>
          <a:prstGeom prst="line">
            <a:avLst/>
          </a:prstGeom>
          <a:noFill/>
          <a:ln w="22225">
            <a:solidFill>
              <a:srgbClr val="E4572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242716" y="5013850"/>
            <a:ext cx="97533" cy="39872"/>
          </a:xfrm>
          <a:prstGeom prst="line">
            <a:avLst/>
          </a:prstGeom>
          <a:noFill/>
          <a:ln w="22225">
            <a:solidFill>
              <a:srgbClr val="E4572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flipV="1">
            <a:off x="4340249" y="5028870"/>
            <a:ext cx="97533" cy="24852"/>
          </a:xfrm>
          <a:prstGeom prst="line">
            <a:avLst/>
          </a:prstGeom>
          <a:noFill/>
          <a:ln w="22225">
            <a:solidFill>
              <a:srgbClr val="E4572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437783" y="5028870"/>
            <a:ext cx="97533" cy="76299"/>
          </a:xfrm>
          <a:prstGeom prst="line">
            <a:avLst/>
          </a:prstGeom>
          <a:noFill/>
          <a:ln w="22225">
            <a:solidFill>
              <a:srgbClr val="E4572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flipV="1">
            <a:off x="4535316" y="5038953"/>
            <a:ext cx="97533" cy="66216"/>
          </a:xfrm>
          <a:prstGeom prst="line">
            <a:avLst/>
          </a:prstGeom>
          <a:noFill/>
          <a:ln w="22225">
            <a:solidFill>
              <a:srgbClr val="E4572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flipV="1">
            <a:off x="4632849" y="4989888"/>
            <a:ext cx="97533" cy="49065"/>
          </a:xfrm>
          <a:prstGeom prst="line">
            <a:avLst/>
          </a:prstGeom>
          <a:noFill/>
          <a:ln w="22225">
            <a:solidFill>
              <a:srgbClr val="E4572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730382" y="4989888"/>
            <a:ext cx="97533" cy="241361"/>
          </a:xfrm>
          <a:prstGeom prst="line">
            <a:avLst/>
          </a:prstGeom>
          <a:noFill/>
          <a:ln w="22225">
            <a:solidFill>
              <a:srgbClr val="E4572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flipV="1">
            <a:off x="4827916" y="4953026"/>
            <a:ext cx="97533" cy="278223"/>
          </a:xfrm>
          <a:prstGeom prst="line">
            <a:avLst/>
          </a:prstGeom>
          <a:noFill/>
          <a:ln w="22225">
            <a:solidFill>
              <a:srgbClr val="E4572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925449" y="4953026"/>
            <a:ext cx="97533" cy="407052"/>
          </a:xfrm>
          <a:prstGeom prst="line">
            <a:avLst/>
          </a:prstGeom>
          <a:noFill/>
          <a:ln w="22225">
            <a:solidFill>
              <a:srgbClr val="E4572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flipV="1">
            <a:off x="5022982" y="5125363"/>
            <a:ext cx="97533" cy="234715"/>
          </a:xfrm>
          <a:prstGeom prst="line">
            <a:avLst/>
          </a:prstGeom>
          <a:noFill/>
          <a:ln w="22225">
            <a:solidFill>
              <a:srgbClr val="E4572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flipV="1">
            <a:off x="5120515" y="4784006"/>
            <a:ext cx="97533" cy="341357"/>
          </a:xfrm>
          <a:prstGeom prst="line">
            <a:avLst/>
          </a:prstGeom>
          <a:noFill/>
          <a:ln w="22225">
            <a:solidFill>
              <a:srgbClr val="E4572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218049" y="4784006"/>
            <a:ext cx="97533" cy="250245"/>
          </a:xfrm>
          <a:prstGeom prst="line">
            <a:avLst/>
          </a:prstGeom>
          <a:noFill/>
          <a:ln w="22225">
            <a:solidFill>
              <a:srgbClr val="E4572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315582" y="5034252"/>
            <a:ext cx="97533" cy="126906"/>
          </a:xfrm>
          <a:prstGeom prst="line">
            <a:avLst/>
          </a:prstGeom>
          <a:noFill/>
          <a:ln w="22225">
            <a:solidFill>
              <a:srgbClr val="E4572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flipV="1">
            <a:off x="5413115" y="4968544"/>
            <a:ext cx="97533" cy="192614"/>
          </a:xfrm>
          <a:prstGeom prst="line">
            <a:avLst/>
          </a:prstGeom>
          <a:noFill/>
          <a:ln w="22225">
            <a:solidFill>
              <a:srgbClr val="E4572E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flipV="1">
            <a:off x="5510648" y="4805434"/>
            <a:ext cx="97533" cy="163110"/>
          </a:xfrm>
          <a:prstGeom prst="line">
            <a:avLst/>
          </a:prstGeom>
          <a:noFill/>
          <a:ln w="22225">
            <a:solidFill>
              <a:srgbClr val="E4572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608181" y="4805434"/>
            <a:ext cx="97533" cy="750369"/>
          </a:xfrm>
          <a:prstGeom prst="line">
            <a:avLst/>
          </a:prstGeom>
          <a:noFill/>
          <a:ln w="22225">
            <a:solidFill>
              <a:srgbClr val="E4572E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flipV="1">
            <a:off x="5705715" y="5224461"/>
            <a:ext cx="97533" cy="331342"/>
          </a:xfrm>
          <a:prstGeom prst="line">
            <a:avLst/>
          </a:prstGeom>
          <a:noFill/>
          <a:ln w="22225">
            <a:solidFill>
              <a:srgbClr val="E4572E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 flipV="1">
            <a:off x="5803248" y="4847894"/>
            <a:ext cx="97533" cy="376566"/>
          </a:xfrm>
          <a:prstGeom prst="line">
            <a:avLst/>
          </a:prstGeom>
          <a:noFill/>
          <a:ln w="22225">
            <a:solidFill>
              <a:srgbClr val="E4572E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900781" y="4847894"/>
            <a:ext cx="97533" cy="575702"/>
          </a:xfrm>
          <a:prstGeom prst="line">
            <a:avLst/>
          </a:prstGeom>
          <a:noFill/>
          <a:ln w="22225">
            <a:solidFill>
              <a:srgbClr val="E4572E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 flipV="1">
            <a:off x="5998314" y="5218454"/>
            <a:ext cx="97533" cy="205142"/>
          </a:xfrm>
          <a:prstGeom prst="line">
            <a:avLst/>
          </a:prstGeom>
          <a:noFill/>
          <a:ln w="22225">
            <a:solidFill>
              <a:srgbClr val="E4572E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 flipV="1">
            <a:off x="6095848" y="4904677"/>
            <a:ext cx="97533" cy="313777"/>
          </a:xfrm>
          <a:prstGeom prst="line">
            <a:avLst/>
          </a:prstGeom>
          <a:noFill/>
          <a:ln w="22225">
            <a:solidFill>
              <a:srgbClr val="E4572E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193381" y="4904677"/>
            <a:ext cx="97533" cy="297536"/>
          </a:xfrm>
          <a:prstGeom prst="line">
            <a:avLst/>
          </a:prstGeom>
          <a:noFill/>
          <a:ln w="22225">
            <a:solidFill>
              <a:srgbClr val="E4572E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flipV="1">
            <a:off x="6290914" y="4614919"/>
            <a:ext cx="97533" cy="587294"/>
          </a:xfrm>
          <a:prstGeom prst="line">
            <a:avLst/>
          </a:prstGeom>
          <a:noFill/>
          <a:ln w="22225">
            <a:solidFill>
              <a:srgbClr val="E4572E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 flipV="1">
            <a:off x="6388447" y="4343341"/>
            <a:ext cx="97533" cy="271577"/>
          </a:xfrm>
          <a:prstGeom prst="line">
            <a:avLst/>
          </a:prstGeom>
          <a:noFill/>
          <a:ln w="22225">
            <a:solidFill>
              <a:srgbClr val="E4572E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485981" y="4343341"/>
            <a:ext cx="97533" cy="893750"/>
          </a:xfrm>
          <a:prstGeom prst="line">
            <a:avLst/>
          </a:prstGeom>
          <a:noFill/>
          <a:ln w="22225">
            <a:solidFill>
              <a:srgbClr val="E4572E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 flipV="1">
            <a:off x="6583514" y="5119452"/>
            <a:ext cx="97533" cy="117639"/>
          </a:xfrm>
          <a:prstGeom prst="line">
            <a:avLst/>
          </a:prstGeom>
          <a:noFill/>
          <a:ln w="22225">
            <a:solidFill>
              <a:srgbClr val="E4572E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 flipV="1">
            <a:off x="6681047" y="4994831"/>
            <a:ext cx="97533" cy="124622"/>
          </a:xfrm>
          <a:prstGeom prst="line">
            <a:avLst/>
          </a:prstGeom>
          <a:noFill/>
          <a:ln w="22225">
            <a:solidFill>
              <a:srgbClr val="E4572E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 flipV="1">
            <a:off x="6778580" y="4715879"/>
            <a:ext cx="97533" cy="278952"/>
          </a:xfrm>
          <a:prstGeom prst="line">
            <a:avLst/>
          </a:prstGeom>
          <a:noFill/>
          <a:ln w="22225">
            <a:solidFill>
              <a:srgbClr val="E4572E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876113" y="4715879"/>
            <a:ext cx="97533" cy="276006"/>
          </a:xfrm>
          <a:prstGeom prst="line">
            <a:avLst/>
          </a:prstGeom>
          <a:noFill/>
          <a:ln w="22225">
            <a:solidFill>
              <a:srgbClr val="E4572E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 flipV="1">
            <a:off x="6973647" y="4363110"/>
            <a:ext cx="97533" cy="628775"/>
          </a:xfrm>
          <a:prstGeom prst="line">
            <a:avLst/>
          </a:prstGeom>
          <a:noFill/>
          <a:ln w="22225">
            <a:solidFill>
              <a:srgbClr val="E4572E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071180" y="4363110"/>
            <a:ext cx="97533" cy="1159895"/>
          </a:xfrm>
          <a:prstGeom prst="line">
            <a:avLst/>
          </a:prstGeom>
          <a:noFill/>
          <a:ln w="22225">
            <a:solidFill>
              <a:srgbClr val="E4572E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 flipV="1">
            <a:off x="7168713" y="4597646"/>
            <a:ext cx="97533" cy="925358"/>
          </a:xfrm>
          <a:prstGeom prst="line">
            <a:avLst/>
          </a:prstGeom>
          <a:noFill/>
          <a:ln w="22225">
            <a:solidFill>
              <a:srgbClr val="E4572E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 flipV="1">
            <a:off x="7266246" y="4487997"/>
            <a:ext cx="97533" cy="109649"/>
          </a:xfrm>
          <a:prstGeom prst="line">
            <a:avLst/>
          </a:prstGeom>
          <a:noFill/>
          <a:ln w="22225">
            <a:solidFill>
              <a:srgbClr val="E4572E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363780" y="4487997"/>
            <a:ext cx="97533" cy="1106468"/>
          </a:xfrm>
          <a:prstGeom prst="line">
            <a:avLst/>
          </a:prstGeom>
          <a:noFill/>
          <a:ln w="22225">
            <a:solidFill>
              <a:srgbClr val="E4572E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 flipV="1">
            <a:off x="7461313" y="5221713"/>
            <a:ext cx="97533" cy="372752"/>
          </a:xfrm>
          <a:prstGeom prst="line">
            <a:avLst/>
          </a:prstGeom>
          <a:noFill/>
          <a:ln w="22225">
            <a:solidFill>
              <a:srgbClr val="E4572E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558846" y="5221713"/>
            <a:ext cx="97533" cy="10316"/>
          </a:xfrm>
          <a:prstGeom prst="line">
            <a:avLst/>
          </a:prstGeom>
          <a:noFill/>
          <a:ln w="22225">
            <a:solidFill>
              <a:srgbClr val="E4572E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656379" y="5232029"/>
            <a:ext cx="97533" cy="384552"/>
          </a:xfrm>
          <a:prstGeom prst="line">
            <a:avLst/>
          </a:prstGeom>
          <a:noFill/>
          <a:ln w="22225">
            <a:solidFill>
              <a:srgbClr val="E4572E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 flipV="1">
            <a:off x="7753912" y="4782287"/>
            <a:ext cx="97533" cy="834294"/>
          </a:xfrm>
          <a:prstGeom prst="line">
            <a:avLst/>
          </a:prstGeom>
          <a:noFill/>
          <a:ln w="22225">
            <a:solidFill>
              <a:srgbClr val="E4572E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7851446" y="4782287"/>
            <a:ext cx="97533" cy="271688"/>
          </a:xfrm>
          <a:prstGeom prst="line">
            <a:avLst/>
          </a:prstGeom>
          <a:noFill/>
          <a:ln w="22225">
            <a:solidFill>
              <a:srgbClr val="E4572E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 flipV="1">
            <a:off x="7948979" y="4971467"/>
            <a:ext cx="97533" cy="82508"/>
          </a:xfrm>
          <a:prstGeom prst="line">
            <a:avLst/>
          </a:prstGeom>
          <a:noFill/>
          <a:ln w="22225">
            <a:solidFill>
              <a:srgbClr val="E4572E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8046512" y="4971467"/>
            <a:ext cx="97533" cy="217727"/>
          </a:xfrm>
          <a:prstGeom prst="line">
            <a:avLst/>
          </a:prstGeom>
          <a:noFill/>
          <a:ln w="22225">
            <a:solidFill>
              <a:srgbClr val="E4572E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144045" y="5189195"/>
            <a:ext cx="97533" cy="22968"/>
          </a:xfrm>
          <a:prstGeom prst="line">
            <a:avLst/>
          </a:prstGeom>
          <a:noFill/>
          <a:ln w="22225">
            <a:solidFill>
              <a:srgbClr val="E4572E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 flipV="1">
            <a:off x="8241579" y="4900089"/>
            <a:ext cx="97533" cy="312074"/>
          </a:xfrm>
          <a:prstGeom prst="line">
            <a:avLst/>
          </a:prstGeom>
          <a:noFill/>
          <a:ln w="22225">
            <a:solidFill>
              <a:srgbClr val="E4572E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8339112" y="4900089"/>
            <a:ext cx="97533" cy="8930"/>
          </a:xfrm>
          <a:prstGeom prst="line">
            <a:avLst/>
          </a:prstGeom>
          <a:noFill/>
          <a:ln w="22225">
            <a:solidFill>
              <a:srgbClr val="E4572E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436645" y="4909020"/>
            <a:ext cx="97533" cy="215640"/>
          </a:xfrm>
          <a:prstGeom prst="line">
            <a:avLst/>
          </a:prstGeom>
          <a:noFill/>
          <a:ln w="22225">
            <a:solidFill>
              <a:srgbClr val="E4572E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 flipV="1">
            <a:off x="8534178" y="4921224"/>
            <a:ext cx="97533" cy="203435"/>
          </a:xfrm>
          <a:prstGeom prst="line">
            <a:avLst/>
          </a:prstGeom>
          <a:noFill/>
          <a:ln w="22225">
            <a:solidFill>
              <a:srgbClr val="E4572E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8631712" y="4921224"/>
            <a:ext cx="97533" cy="112404"/>
          </a:xfrm>
          <a:prstGeom prst="line">
            <a:avLst/>
          </a:prstGeom>
          <a:noFill/>
          <a:ln w="22225">
            <a:solidFill>
              <a:srgbClr val="E4572E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8729245" y="5033628"/>
            <a:ext cx="97533" cy="77758"/>
          </a:xfrm>
          <a:prstGeom prst="line">
            <a:avLst/>
          </a:prstGeom>
          <a:noFill/>
          <a:ln w="22225">
            <a:solidFill>
              <a:srgbClr val="E4572E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 flipV="1">
            <a:off x="8826778" y="5109989"/>
            <a:ext cx="97533" cy="1398"/>
          </a:xfrm>
          <a:prstGeom prst="line">
            <a:avLst/>
          </a:prstGeom>
          <a:noFill/>
          <a:ln w="22225">
            <a:solidFill>
              <a:srgbClr val="E4572E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 flipV="1">
            <a:off x="8924311" y="5065979"/>
            <a:ext cx="97533" cy="44010"/>
          </a:xfrm>
          <a:prstGeom prst="line">
            <a:avLst/>
          </a:prstGeom>
          <a:noFill/>
          <a:ln w="22225">
            <a:solidFill>
              <a:srgbClr val="E4572E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 flipV="1">
            <a:off x="9021844" y="5057428"/>
            <a:ext cx="97533" cy="8550"/>
          </a:xfrm>
          <a:prstGeom prst="line">
            <a:avLst/>
          </a:prstGeom>
          <a:noFill/>
          <a:ln w="22225">
            <a:solidFill>
              <a:srgbClr val="E4572E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9119378" y="5057428"/>
            <a:ext cx="97533" cy="18714"/>
          </a:xfrm>
          <a:prstGeom prst="line">
            <a:avLst/>
          </a:prstGeom>
          <a:noFill/>
          <a:ln w="22225">
            <a:solidFill>
              <a:srgbClr val="E4572E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 flipV="1">
            <a:off x="9216911" y="5042518"/>
            <a:ext cx="97533" cy="33624"/>
          </a:xfrm>
          <a:prstGeom prst="line">
            <a:avLst/>
          </a:prstGeom>
          <a:noFill/>
          <a:ln w="22225">
            <a:solidFill>
              <a:srgbClr val="E4572E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9314444" y="5042518"/>
            <a:ext cx="97533" cy="5064"/>
          </a:xfrm>
          <a:prstGeom prst="line">
            <a:avLst/>
          </a:prstGeom>
          <a:noFill/>
          <a:ln w="22225">
            <a:solidFill>
              <a:srgbClr val="E4572E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9411977" y="5047582"/>
            <a:ext cx="97533" cy="72566"/>
          </a:xfrm>
          <a:prstGeom prst="line">
            <a:avLst/>
          </a:prstGeom>
          <a:noFill/>
          <a:ln w="22225">
            <a:solidFill>
              <a:srgbClr val="E4572E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 flipV="1">
            <a:off x="9509511" y="5046313"/>
            <a:ext cx="97533" cy="73835"/>
          </a:xfrm>
          <a:prstGeom prst="line">
            <a:avLst/>
          </a:prstGeom>
          <a:noFill/>
          <a:ln w="22225">
            <a:solidFill>
              <a:srgbClr val="E4572E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9607044" y="5046313"/>
            <a:ext cx="97533" cy="41079"/>
          </a:xfrm>
          <a:prstGeom prst="line">
            <a:avLst/>
          </a:prstGeom>
          <a:noFill/>
          <a:ln w="22225">
            <a:solidFill>
              <a:srgbClr val="E4572E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 flipV="1">
            <a:off x="9704577" y="5016833"/>
            <a:ext cx="97533" cy="70559"/>
          </a:xfrm>
          <a:prstGeom prst="line">
            <a:avLst/>
          </a:prstGeom>
          <a:noFill/>
          <a:ln w="22225">
            <a:solidFill>
              <a:srgbClr val="E4572E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9802110" y="5016833"/>
            <a:ext cx="97533" cy="107552"/>
          </a:xfrm>
          <a:prstGeom prst="line">
            <a:avLst/>
          </a:prstGeom>
          <a:noFill/>
          <a:ln w="22225">
            <a:solidFill>
              <a:srgbClr val="E4572E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 flipV="1">
            <a:off x="9899644" y="5099558"/>
            <a:ext cx="97533" cy="24827"/>
          </a:xfrm>
          <a:prstGeom prst="line">
            <a:avLst/>
          </a:prstGeom>
          <a:noFill/>
          <a:ln w="22225">
            <a:solidFill>
              <a:srgbClr val="E4572E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 flipV="1">
            <a:off x="9997177" y="5068138"/>
            <a:ext cx="97533" cy="31420"/>
          </a:xfrm>
          <a:prstGeom prst="line">
            <a:avLst/>
          </a:prstGeom>
          <a:noFill/>
          <a:ln w="22225">
            <a:solidFill>
              <a:srgbClr val="E4572E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 flipV="1">
            <a:off x="10094710" y="5032016"/>
            <a:ext cx="97533" cy="36122"/>
          </a:xfrm>
          <a:prstGeom prst="line">
            <a:avLst/>
          </a:prstGeom>
          <a:noFill/>
          <a:ln w="22225">
            <a:solidFill>
              <a:srgbClr val="E4572E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10192243" y="5032016"/>
            <a:ext cx="97533" cy="86024"/>
          </a:xfrm>
          <a:prstGeom prst="line">
            <a:avLst/>
          </a:prstGeom>
          <a:noFill/>
          <a:ln w="22225">
            <a:solidFill>
              <a:srgbClr val="E4572E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 flipV="1">
            <a:off x="10289776" y="5047027"/>
            <a:ext cx="97533" cy="71013"/>
          </a:xfrm>
          <a:prstGeom prst="line">
            <a:avLst/>
          </a:prstGeom>
          <a:noFill/>
          <a:ln w="22225">
            <a:solidFill>
              <a:srgbClr val="E4572E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 flipV="1">
            <a:off x="10387310" y="5038238"/>
            <a:ext cx="97533" cy="8788"/>
          </a:xfrm>
          <a:prstGeom prst="line">
            <a:avLst/>
          </a:prstGeom>
          <a:noFill/>
          <a:ln w="22225">
            <a:solidFill>
              <a:srgbClr val="E4572E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0484843" y="5038238"/>
            <a:ext cx="97533" cy="30773"/>
          </a:xfrm>
          <a:prstGeom prst="line">
            <a:avLst/>
          </a:prstGeom>
          <a:noFill/>
          <a:ln w="22225">
            <a:solidFill>
              <a:srgbClr val="E4572E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10582376" y="5069012"/>
            <a:ext cx="97533" cy="42088"/>
          </a:xfrm>
          <a:prstGeom prst="line">
            <a:avLst/>
          </a:prstGeom>
          <a:noFill/>
          <a:ln w="22225">
            <a:solidFill>
              <a:srgbClr val="E4572E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 flipV="1">
            <a:off x="10679909" y="5057017"/>
            <a:ext cx="97533" cy="54083"/>
          </a:xfrm>
          <a:prstGeom prst="line">
            <a:avLst/>
          </a:prstGeom>
          <a:noFill/>
          <a:ln w="22225">
            <a:solidFill>
              <a:srgbClr val="E4572E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 flipV="1">
            <a:off x="10777443" y="5009221"/>
            <a:ext cx="97533" cy="47796"/>
          </a:xfrm>
          <a:prstGeom prst="line">
            <a:avLst/>
          </a:prstGeom>
          <a:noFill/>
          <a:ln w="22225">
            <a:solidFill>
              <a:srgbClr val="E4572E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10874976" y="5009221"/>
            <a:ext cx="97533" cy="55314"/>
          </a:xfrm>
          <a:prstGeom prst="line">
            <a:avLst/>
          </a:prstGeom>
          <a:noFill/>
          <a:ln w="22225">
            <a:solidFill>
              <a:srgbClr val="E4572E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 flipV="1">
            <a:off x="10972509" y="5023349"/>
            <a:ext cx="97533" cy="41186"/>
          </a:xfrm>
          <a:prstGeom prst="line">
            <a:avLst/>
          </a:prstGeom>
          <a:noFill/>
          <a:ln w="22225">
            <a:solidFill>
              <a:srgbClr val="E4572E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11070042" y="5023349"/>
            <a:ext cx="97533" cy="116160"/>
          </a:xfrm>
          <a:prstGeom prst="line">
            <a:avLst/>
          </a:prstGeom>
          <a:noFill/>
          <a:ln w="22225">
            <a:solidFill>
              <a:srgbClr val="E4572E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 flipV="1">
            <a:off x="11167576" y="5045646"/>
            <a:ext cx="97533" cy="93863"/>
          </a:xfrm>
          <a:prstGeom prst="line">
            <a:avLst/>
          </a:prstGeom>
          <a:noFill/>
          <a:ln w="22225">
            <a:solidFill>
              <a:srgbClr val="E4572E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11265109" y="5045646"/>
            <a:ext cx="97533" cy="39287"/>
          </a:xfrm>
          <a:prstGeom prst="line">
            <a:avLst/>
          </a:prstGeom>
          <a:noFill/>
          <a:ln w="22225">
            <a:solidFill>
              <a:srgbClr val="E4572E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11362642" y="5084933"/>
            <a:ext cx="97533" cy="2220"/>
          </a:xfrm>
          <a:prstGeom prst="line">
            <a:avLst/>
          </a:prstGeom>
          <a:noFill/>
          <a:ln w="22225">
            <a:solidFill>
              <a:srgbClr val="E4572E"/>
            </a:solidFill>
            <a:prstDash val="solid"/>
          </a:ln>
        </p:spPr>
      </p:sp>
      <p:sp>
        <p:nvSpPr>
          <p:cNvPr id="112" name="Text 110"/>
          <p:cNvSpPr txBox="1"/>
          <p:nvPr/>
        </p:nvSpPr>
        <p:spPr>
          <a:xfrm>
            <a:off x="548640" y="1097280"/>
            <a:ext cx="1109441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Umreženi sustav za detekciju potresa</a:t>
            </a:r>
            <a:endParaRPr lang="en-US" sz="4400" dirty="0"/>
          </a:p>
        </p:txBody>
      </p:sp>
      <p:sp>
        <p:nvSpPr>
          <p:cNvPr id="113" name="Text 111"/>
          <p:cNvSpPr txBox="1"/>
          <p:nvPr/>
        </p:nvSpPr>
        <p:spPr>
          <a:xfrm>
            <a:off x="548640" y="24688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· MPU6050 · MQTT · correlation rule dvaju channela</a:t>
            </a:r>
            <a:endParaRPr lang="en-US" sz="2000" dirty="0"/>
          </a:p>
        </p:txBody>
      </p:sp>
      <p:sp>
        <p:nvSpPr>
          <p:cNvPr id="114" name="Text 112"/>
          <p:cNvSpPr txBox="1"/>
          <p:nvPr/>
        </p:nvSpPr>
        <p:spPr>
          <a:xfrm>
            <a:off x="548640" y="329184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 Radočaj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Sveučilište Jurja Dobrile u Puli · Fakultet informatike u Puli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A9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Seminarski rad iz kolegija Internet stvari (IoT) · 2025./2026.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Problem: jedan senzor ne zna što je potres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1206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3E0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737360"/>
            <a:ext cx="914400" cy="914400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1975104"/>
            <a:ext cx="438912" cy="4389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965960" y="16916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Kamion, vrata, lakat na stolu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965960" y="210312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Lokalni noise. Trese jedan senzor, druge ne dotiče. Akcelerometar to vidi jednako kao potres.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3703320"/>
            <a:ext cx="51206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3E0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22960" y="3977640"/>
            <a:ext cx="914400" cy="91440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" y="4215384"/>
            <a:ext cx="438912" cy="43891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965960" y="39319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motion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1965960" y="434340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Pogađa sve senzore istodobno. Lokalni noise je lokalan, ground motion nije. To je jedina razlika koju možemo mjeriti jeftino.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126480" y="1463040"/>
            <a:ext cx="5516575" cy="4160520"/>
          </a:xfrm>
          <a:prstGeom prst="roundRect">
            <a:avLst>
              <a:gd name="adj" fmla="val 2637"/>
            </a:avLst>
          </a:prstGeom>
          <a:solidFill>
            <a:srgbClr val="14161C"/>
          </a:solidFill>
          <a:ln w="9525">
            <a:solidFill>
              <a:srgbClr val="E3E0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Text 10"/>
          <p:cNvSpPr txBox="1"/>
          <p:nvPr/>
        </p:nvSpPr>
        <p:spPr>
          <a:xfrm>
            <a:off x="6492240" y="1691640"/>
            <a:ext cx="4785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9B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Correlation rule</a:t>
            </a:r>
            <a:endParaRPr lang="en-US" sz="2200" dirty="0"/>
          </a:p>
        </p:txBody>
      </p:sp>
      <p:sp>
        <p:nvSpPr>
          <p:cNvPr id="15" name="Text 11"/>
          <p:cNvSpPr txBox="1"/>
          <p:nvPr/>
        </p:nvSpPr>
        <p:spPr>
          <a:xfrm>
            <a:off x="6492240" y="219456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9600" dirty="0"/>
          </a:p>
        </p:txBody>
      </p:sp>
      <p:sp>
        <p:nvSpPr>
          <p:cNvPr id="16" name="Text 12"/>
          <p:cNvSpPr txBox="1"/>
          <p:nvPr/>
        </p:nvSpPr>
        <p:spPr>
          <a:xfrm>
            <a:off x="8412480" y="2286000"/>
            <a:ext cx="28648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channela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unutar 2 sekunde</a:t>
            </a:r>
            <a:endParaRPr lang="en-US" sz="2200" dirty="0"/>
          </a:p>
        </p:txBody>
      </p:sp>
      <p:sp>
        <p:nvSpPr>
          <p:cNvPr id="17" name="Text 13"/>
          <p:cNvSpPr txBox="1"/>
          <p:nvPr/>
        </p:nvSpPr>
        <p:spPr>
          <a:xfrm>
            <a:off x="6492240" y="3703320"/>
            <a:ext cx="47850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5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tada je to potres. Isti pristup koriste dense low-cost arrays (Community Seismic Network, MyShake): pouzdanost dolazi iz istodobnosti, ne iz kvalitete pojedinog senzora.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6492240" y="4800600"/>
            <a:ext cx="47850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jedan ESP32. Drugi channel je simuliran (fake_node.py) i govori isti MQTT contract; stvarni drugi node je drop-in bez izmjene koda.</a:t>
            </a:r>
            <a:endParaRPr lang="en-US" sz="1250" dirty="0"/>
          </a:p>
        </p:txBody>
      </p:sp>
      <p:sp>
        <p:nvSpPr>
          <p:cNvPr id="19" name="Text 15"/>
          <p:cNvSpPr txBox="1"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 Radočaj · Fakultet informatike u Puli</a:t>
            </a:r>
            <a:endParaRPr lang="en-US" sz="1000" dirty="0"/>
          </a:p>
        </p:txBody>
      </p:sp>
      <p:sp>
        <p:nvSpPr>
          <p:cNvPr id="20" name="Text 16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Arhitektura sustava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2743200" cy="914400"/>
          </a:xfrm>
          <a:prstGeom prst="roundRect">
            <a:avLst>
              <a:gd name="adj" fmla="val 10000"/>
            </a:avLst>
          </a:prstGeom>
          <a:solidFill>
            <a:srgbClr val="1D7A8C"/>
          </a:solidFill>
          <a:ln w="12700">
            <a:solidFill>
              <a:srgbClr val="1D7A8C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78308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16459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+ MPU6050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1280160" y="2057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A · stvarni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" y="2926080"/>
            <a:ext cx="2743200" cy="914400"/>
          </a:xfrm>
          <a:prstGeom prst="roundRect">
            <a:avLst>
              <a:gd name="adj" fmla="val 10000"/>
            </a:avLst>
          </a:prstGeom>
          <a:solidFill>
            <a:srgbClr val="7A8A99"/>
          </a:solidFill>
          <a:ln w="12700">
            <a:solidFill>
              <a:srgbClr val="7A8A99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154680"/>
            <a:ext cx="457200" cy="4572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80160" y="30175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fake_node.py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1280160" y="34290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B · simulirani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206240" y="2240280"/>
            <a:ext cx="2377440" cy="914400"/>
          </a:xfrm>
          <a:prstGeom prst="roundRect">
            <a:avLst>
              <a:gd name="adj" fmla="val 10000"/>
            </a:avLst>
          </a:prstGeom>
          <a:solidFill>
            <a:srgbClr val="14161C"/>
          </a:solidFill>
          <a:ln w="12700">
            <a:solidFill>
              <a:srgbClr val="14161C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246888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937760" y="23317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Mosquitto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4937760" y="27432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broker · Docker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7132320" y="1554480"/>
            <a:ext cx="2286000" cy="914400"/>
          </a:xfrm>
          <a:prstGeom prst="roundRect">
            <a:avLst>
              <a:gd name="adj" fmla="val 10000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1783080"/>
            <a:ext cx="457200" cy="4572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7863840" y="16459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Correlator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7863840" y="20574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paho-mqtt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7132320" y="2926080"/>
            <a:ext cx="2286000" cy="914400"/>
          </a:xfrm>
          <a:prstGeom prst="roundRect">
            <a:avLst>
              <a:gd name="adj" fmla="val 10000"/>
            </a:avLst>
          </a:prstGeom>
          <a:solidFill>
            <a:srgbClr val="1D7A8C"/>
          </a:solidFill>
          <a:ln w="12700">
            <a:solidFill>
              <a:srgbClr val="1D7A8C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3154680"/>
            <a:ext cx="457200" cy="45720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7863840" y="30175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500" dirty="0"/>
          </a:p>
        </p:txBody>
      </p:sp>
      <p:sp>
        <p:nvSpPr>
          <p:cNvPr id="22" name="Text 15"/>
          <p:cNvSpPr txBox="1"/>
          <p:nvPr/>
        </p:nvSpPr>
        <p:spPr>
          <a:xfrm>
            <a:off x="7863840" y="34290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localhost:8000 · SSE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10195560" y="1554480"/>
            <a:ext cx="1444752" cy="914400"/>
          </a:xfrm>
          <a:prstGeom prst="roundRect">
            <a:avLst>
              <a:gd name="adj" fmla="val 10000"/>
            </a:avLst>
          </a:prstGeom>
          <a:solidFill>
            <a:srgbClr val="E9B44C"/>
          </a:solidFill>
          <a:ln w="12700">
            <a:solidFill>
              <a:srgbClr val="E9B44C"/>
            </a:solidFill>
            <a:prstDash val="solid"/>
          </a:ln>
        </p:spPr>
      </p:sp>
      <p:sp>
        <p:nvSpPr>
          <p:cNvPr id="24" name="Text 17"/>
          <p:cNvSpPr txBox="1"/>
          <p:nvPr/>
        </p:nvSpPr>
        <p:spPr>
          <a:xfrm>
            <a:off x="10378440" y="1645920"/>
            <a:ext cx="1078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1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quake/alarm</a:t>
            </a:r>
            <a:endParaRPr lang="en-US" sz="1500" dirty="0"/>
          </a:p>
        </p:txBody>
      </p:sp>
      <p:sp>
        <p:nvSpPr>
          <p:cNvPr id="25" name="Text 18"/>
          <p:cNvSpPr txBox="1"/>
          <p:nvPr/>
        </p:nvSpPr>
        <p:spPr>
          <a:xfrm>
            <a:off x="10378440" y="2057400"/>
            <a:ext cx="1078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buzzer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10195560" y="2926080"/>
            <a:ext cx="1444752" cy="914400"/>
          </a:xfrm>
          <a:prstGeom prst="roundRect">
            <a:avLst>
              <a:gd name="adj" fmla="val 10000"/>
            </a:avLst>
          </a:prstGeom>
          <a:solidFill>
            <a:srgbClr val="C9CDD6"/>
          </a:solidFill>
          <a:ln w="12700">
            <a:solidFill>
              <a:srgbClr val="C9CDD6"/>
            </a:solidFill>
            <a:prstDash val="solid"/>
          </a:ln>
        </p:spPr>
      </p:sp>
      <p:sp>
        <p:nvSpPr>
          <p:cNvPr id="27" name="Text 20"/>
          <p:cNvSpPr txBox="1"/>
          <p:nvPr/>
        </p:nvSpPr>
        <p:spPr>
          <a:xfrm>
            <a:off x="10378440" y="3017520"/>
            <a:ext cx="1078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1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Thingsboard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10378440" y="3429000"/>
            <a:ext cx="1078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3291840" y="2011680"/>
            <a:ext cx="914400" cy="548640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30" name="Shape 23"/>
          <p:cNvSpPr/>
          <p:nvPr/>
        </p:nvSpPr>
        <p:spPr>
          <a:xfrm flipV="1">
            <a:off x="3291840" y="2834640"/>
            <a:ext cx="914400" cy="548640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31" name="Shape 24"/>
          <p:cNvSpPr/>
          <p:nvPr/>
        </p:nvSpPr>
        <p:spPr>
          <a:xfrm flipV="1">
            <a:off x="6583680" y="2011680"/>
            <a:ext cx="548640" cy="548640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32" name="Shape 25"/>
          <p:cNvSpPr/>
          <p:nvPr/>
        </p:nvSpPr>
        <p:spPr>
          <a:xfrm>
            <a:off x="6583680" y="2834640"/>
            <a:ext cx="548640" cy="548640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33" name="Shape 26"/>
          <p:cNvSpPr/>
          <p:nvPr/>
        </p:nvSpPr>
        <p:spPr>
          <a:xfrm>
            <a:off x="9418320" y="2011680"/>
            <a:ext cx="777240" cy="914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34" name="Shape 27"/>
          <p:cNvSpPr/>
          <p:nvPr/>
        </p:nvSpPr>
        <p:spPr>
          <a:xfrm>
            <a:off x="9418320" y="2194560"/>
            <a:ext cx="777240" cy="1051560"/>
          </a:xfrm>
          <a:prstGeom prst="line">
            <a:avLst/>
          </a:prstGeom>
          <a:noFill/>
          <a:ln w="22225">
            <a:solidFill>
              <a:srgbClr val="B0B4BE"/>
            </a:solidFill>
            <a:prstDash val="solid"/>
            <a:tailEnd type="triangle"/>
          </a:ln>
        </p:spPr>
      </p:sp>
      <p:sp>
        <p:nvSpPr>
          <p:cNvPr id="35" name="Shape 28"/>
          <p:cNvSpPr/>
          <p:nvPr/>
        </p:nvSpPr>
        <p:spPr>
          <a:xfrm>
            <a:off x="548640" y="4114800"/>
            <a:ext cx="5364328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0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6" name="Text 29"/>
          <p:cNvSpPr txBox="1"/>
          <p:nvPr/>
        </p:nvSpPr>
        <p:spPr>
          <a:xfrm>
            <a:off x="822960" y="4297680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subscribea na broker, ne na correlator</a:t>
            </a:r>
            <a:endParaRPr lang="en-US" sz="1600" dirty="0"/>
          </a:p>
        </p:txBody>
      </p:sp>
      <p:sp>
        <p:nvSpPr>
          <p:cNvPr id="37" name="Text 30"/>
          <p:cNvSpPr txBox="1"/>
          <p:nvPr/>
        </p:nvSpPr>
        <p:spPr>
          <a:xfrm>
            <a:off x="822960" y="4709160"/>
            <a:ext cx="48156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ne smije ovisiti o tome je li browser otvoren. Gašenje dashboarda ne mijenja ništa u ponašanju alarma.</a:t>
            </a:r>
            <a:endParaRPr lang="en-US" sz="1300" dirty="0"/>
          </a:p>
        </p:txBody>
      </p:sp>
      <p:sp>
        <p:nvSpPr>
          <p:cNvPr id="38" name="Shape 31"/>
          <p:cNvSpPr/>
          <p:nvPr/>
        </p:nvSpPr>
        <p:spPr>
          <a:xfrm>
            <a:off x="6278728" y="4114800"/>
            <a:ext cx="5364328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0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9" name="Text 32"/>
          <p:cNvSpPr txBox="1"/>
          <p:nvPr/>
        </p:nvSpPr>
        <p:spPr>
          <a:xfrm>
            <a:off x="6553048" y="4297680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ostaje lokalan</a:t>
            </a:r>
            <a:endParaRPr lang="en-US" sz="1600" dirty="0"/>
          </a:p>
        </p:txBody>
      </p:sp>
      <p:sp>
        <p:nvSpPr>
          <p:cNvPr id="40" name="Text 33"/>
          <p:cNvSpPr txBox="1"/>
          <p:nvPr/>
        </p:nvSpPr>
        <p:spPr>
          <a:xfrm>
            <a:off x="6553048" y="4709160"/>
            <a:ext cx="48156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preživljava nestanak interneta: eventi, korelacija, alarm i buzzer rade dalje. Bridge prema cloudu živi u correlatoru, pa node ostaje plaintext bez TLS-a.</a:t>
            </a:r>
            <a:endParaRPr lang="en-US" sz="1300" dirty="0"/>
          </a:p>
        </p:txBody>
      </p:sp>
      <p:sp>
        <p:nvSpPr>
          <p:cNvPr id="41" name="Text 34"/>
          <p:cNvSpPr txBox="1"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 Radočaj · Fakultet informatike u Puli</a:t>
            </a:r>
            <a:endParaRPr lang="en-US" sz="1000" dirty="0"/>
          </a:p>
        </p:txBody>
      </p:sp>
      <p:sp>
        <p:nvSpPr>
          <p:cNvPr id="42" name="Text 35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Hardver: ~¥3.100 na breadboardu</a:t>
            </a:r>
            <a:endParaRPr lang="en-US" sz="3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603504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914400"/>
                <a:gridCol w="12801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Komponenta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Kol.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Cijena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6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ESP32 (FREENOVE FNK0090, WROOM-32E, 4 MB)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¥1.800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MPU6050 / GY-521 akcelerometar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~¥300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Aktivni buzzer, 3-pin modul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~¥100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Breadboard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~¥300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Jumper wires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set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~¥400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LED 5 mm + otpornik 330 Ω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~¥200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7040880" y="1463040"/>
            <a:ext cx="4602175" cy="2743200"/>
          </a:xfrm>
          <a:prstGeom prst="roundRect">
            <a:avLst>
              <a:gd name="adj" fmla="val 4000"/>
            </a:avLst>
          </a:prstGeom>
          <a:solidFill>
            <a:srgbClr val="14161C"/>
          </a:solidFill>
          <a:ln w="9525">
            <a:solidFill>
              <a:srgbClr val="E3E0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7360920" y="1645920"/>
            <a:ext cx="3962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9B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Wiring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7360920" y="2057400"/>
            <a:ext cx="396209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MPU6050   VCC  ──  3V3   (3,3 V, NE 5 V)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GND  ──  GND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SCL  ──  GPIO27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SDA  ──  GPIO26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LED            ──  GPIO2  (onboard)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Buzzer         ──  GPIO25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040880" y="4434840"/>
            <a:ext cx="4602175" cy="1600200"/>
          </a:xfrm>
          <a:prstGeom prst="roundRect">
            <a:avLst>
              <a:gd name="adj" fmla="val 6857"/>
            </a:avLst>
          </a:prstGeom>
          <a:solidFill>
            <a:srgbClr val="FBE5DD"/>
          </a:solidFill>
          <a:ln w="9525">
            <a:solidFill>
              <a:srgbClr val="E3E0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7360920" y="4572000"/>
            <a:ext cx="3962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Izmjereno, ne pretpostavljeno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360920" y="4937760"/>
            <a:ext cx="39620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FNK0090 ima 40 pinova, ne 38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Buzzer je active-LOW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MPU6050 treba ~150 ms settle nakon power-upa prije prvog I2C upita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 Radočaj · Fakultet informatike u Puli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Firmware: sampling i detection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486400" cy="2148840"/>
          </a:xfrm>
          <a:prstGeom prst="roundRect">
            <a:avLst>
              <a:gd name="adj" fmla="val 5106"/>
            </a:avLst>
          </a:prstGeom>
          <a:solidFill>
            <a:srgbClr val="14161C"/>
          </a:solidFill>
          <a:ln w="9525">
            <a:solidFill>
              <a:srgbClr val="E3E0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detector.cpp · bez Arduino headera · dev prema prethodnom baselineu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96596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      = |mag − baseline|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baseline = 0.99·baseline + 0.01·mag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dev &gt; THRESHOLD and not refractory: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trigger()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3840480"/>
            <a:ext cx="548640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0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22960" y="39776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343400"/>
            <a:ext cx="4937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Hz, gate na micros(); ±2 g, 16384 LSB/g, gal = g · 980,665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DLPF u senzoru (0x1A = 6) → bandwidth 5 Hz; bez toga noise je ~7× veći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gate se resyncira umjesto da sustiže: stall ne smije ispaliti burst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reconnect s exponential backoffom (2 s → 30 s); blocking reconnect je rušio 100 Hz na 1 Hz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92240" y="1463040"/>
            <a:ext cx="5150815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3E0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720840" y="1783080"/>
            <a:ext cx="731520" cy="731520"/>
          </a:xfrm>
          <a:prstGeom prst="ellipse">
            <a:avLst/>
          </a:prstGeom>
          <a:solidFill>
            <a:srgbClr val="1D7A8C"/>
          </a:solidFill>
          <a:ln w="12700">
            <a:solidFill>
              <a:srgbClr val="1D7A8C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11035" y="1973275"/>
            <a:ext cx="351130" cy="35113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7680960" y="1600200"/>
            <a:ext cx="3779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 kao high-pass filter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7680960" y="1965960"/>
            <a:ext cx="37792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Uklanja ~980 gal gravity offseta bez filter biblioteke i prati nagib node-a. Deviation prema prethodnom baselineu: spike prijavi punu amplitudu.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492240" y="3017520"/>
            <a:ext cx="5150815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3E0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720840" y="3337560"/>
            <a:ext cx="731520" cy="731520"/>
          </a:xfrm>
          <a:prstGeom prst="ellipse">
            <a:avLst/>
          </a:prstGeom>
          <a:solidFill>
            <a:srgbClr val="E9B44C"/>
          </a:solidFill>
          <a:ln w="12700">
            <a:solidFill>
              <a:srgbClr val="E9B44C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1035" y="3527755"/>
            <a:ext cx="351130" cy="35113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680960" y="3154680"/>
            <a:ext cx="3779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 3 s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7680960" y="3520440"/>
            <a:ext cx="37792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se seeda prvim sampleom, ali EMA se još smiruje. Prve 3 sekunde nema triggera.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6492240" y="4572000"/>
            <a:ext cx="5150815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3E0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720840" y="4892040"/>
            <a:ext cx="731520" cy="73152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1035" y="5082235"/>
            <a:ext cx="351130" cy="35113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7680960" y="4709160"/>
            <a:ext cx="3779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Refractory period 5 s</a:t>
            </a:r>
            <a:endParaRPr lang="en-US" sz="1500" dirty="0"/>
          </a:p>
        </p:txBody>
      </p:sp>
      <p:sp>
        <p:nvSpPr>
          <p:cNvPr id="23" name="Text 18"/>
          <p:cNvSpPr txBox="1"/>
          <p:nvPr/>
        </p:nvSpPr>
        <p:spPr>
          <a:xfrm>
            <a:off x="7680960" y="5074920"/>
            <a:ext cx="37792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Jedan shake = jedan event, ne stotine. Publish kad se window zatvori: peak_gal je stvarni peak, dur_ms trajanje iznad thresholda.</a:t>
            </a:r>
            <a:endParaRPr lang="en-US" sz="1200" dirty="0"/>
          </a:p>
        </p:txBody>
      </p:sp>
      <p:sp>
        <p:nvSpPr>
          <p:cNvPr id="24" name="Text 19"/>
          <p:cNvSpPr txBox="1"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 Radočaj · Fakultet informatike u Puli</a:t>
            </a:r>
            <a:endParaRPr lang="en-US" sz="1000" dirty="0"/>
          </a:p>
        </p:txBody>
      </p:sp>
      <p:sp>
        <p:nvSpPr>
          <p:cNvPr id="25" name="Text 20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MQTT contract: tri topica, tri JSON payloada</a:t>
            </a:r>
            <a:endParaRPr lang="en-US" sz="3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2011680"/>
                <a:gridCol w="3840480"/>
                <a:gridCol w="222199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Smjer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Payload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Kada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61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quake/&lt;node_id&gt;/event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 → broker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{"node","peak_gal","dur_ms"}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 trigger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quake/&lt;node_id&gt;/tel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 → broker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{"node","dev_gal","uptime_s"}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Hz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quake/alarm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correlator → node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{"nodes":[...],"peak_gal"}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 slaganje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3566160"/>
            <a:ext cx="3454298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E3E0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822960" y="3840480"/>
            <a:ext cx="640080" cy="640080"/>
          </a:xfrm>
          <a:prstGeom prst="ellipse">
            <a:avLst/>
          </a:prstGeom>
          <a:solidFill>
            <a:srgbClr val="1D7A8C"/>
          </a:solidFill>
          <a:ln w="12700">
            <a:solidFill>
              <a:srgbClr val="1D7A8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381" y="4006901"/>
            <a:ext cx="307238" cy="30723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00200" y="3886200"/>
            <a:ext cx="21741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ID iz MAC-a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822960" y="4617720"/>
            <a:ext cx="290565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node-a4c1f8: zadnja tri bajta WiFi MAC adrese. Bez konfiguracije po node-u, byte-identičan firmware.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4368698" y="3566160"/>
            <a:ext cx="3454298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E3E0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4643018" y="3840480"/>
            <a:ext cx="640080" cy="64008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9439" y="4006901"/>
            <a:ext cx="307238" cy="30723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420258" y="3886200"/>
            <a:ext cx="21741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Prefiksi sim- i mirror-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4643018" y="4617720"/>
            <a:ext cx="290565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Simulirani i mirror channeli označeni su na razini protokola: nijedan log ni screenshot ne mogu ih prikazati kao stvarno mjerenje.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8188757" y="3566160"/>
            <a:ext cx="3454298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E3E0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8463077" y="3840480"/>
            <a:ext cx="640080" cy="640080"/>
          </a:xfrm>
          <a:prstGeom prst="ellipse">
            <a:avLst/>
          </a:prstGeom>
          <a:solidFill>
            <a:srgbClr val="E9B44C"/>
          </a:solidFill>
          <a:ln w="12700">
            <a:solidFill>
              <a:srgbClr val="E9B44C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9498" y="4006901"/>
            <a:ext cx="307238" cy="307238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9240317" y="3886200"/>
            <a:ext cx="21741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= channel, buzzer = mreža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8463077" y="4617720"/>
            <a:ext cx="290565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se pali lokalno na trigger vlastitog channela. Buzzer se oglašava samo na quake/alarm: tek kad correlator potvrdi dva distinct channela.</a:t>
            </a:r>
            <a:endParaRPr lang="en-US" sz="1250" dirty="0"/>
          </a:p>
        </p:txBody>
      </p:sp>
      <p:sp>
        <p:nvSpPr>
          <p:cNvPr id="19" name="Text 13"/>
          <p:cNvSpPr txBox="1"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 Radočaj · Fakultet informatike u Puli</a:t>
            </a:r>
            <a:endParaRPr lang="en-US" sz="1000" dirty="0"/>
          </a:p>
        </p:txBody>
      </p:sp>
      <p:sp>
        <p:nvSpPr>
          <p:cNvPr id="20" name="Text 14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Correlator: rule u četiri koraka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567864" cy="2468880"/>
          </a:xfrm>
          <a:prstGeom prst="roundRect">
            <a:avLst>
              <a:gd name="adj" fmla="val 4444"/>
            </a:avLst>
          </a:prstGeom>
          <a:solidFill>
            <a:srgbClr val="F6F4EF"/>
          </a:solidFill>
          <a:ln w="9525">
            <a:solidFill>
              <a:srgbClr val="E3E0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737360"/>
            <a:ext cx="548640" cy="548640"/>
          </a:xfrm>
          <a:prstGeom prst="ellipse">
            <a:avLst/>
          </a:prstGeom>
          <a:solidFill>
            <a:srgbClr val="1D7A8C"/>
          </a:solidFill>
          <a:ln w="12700">
            <a:solidFill>
              <a:srgbClr val="1D7A8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77440"/>
            <a:ext cx="201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Primi event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43200"/>
            <a:ext cx="20192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 na quake/+/event. Arrival time, ne vrijeme node-a: bez NTP-a, jer je MQTT latency ~100 ms naspram window-a od 2 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90824" y="1463040"/>
            <a:ext cx="2567864" cy="2468880"/>
          </a:xfrm>
          <a:prstGeom prst="roundRect">
            <a:avLst>
              <a:gd name="adj" fmla="val 4444"/>
            </a:avLst>
          </a:prstGeom>
          <a:solidFill>
            <a:srgbClr val="F6F4EF"/>
          </a:solidFill>
          <a:ln w="9525">
            <a:solidFill>
              <a:srgbClr val="E3E0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65144" y="1737360"/>
            <a:ext cx="548640" cy="548640"/>
          </a:xfrm>
          <a:prstGeom prst="ellipse">
            <a:avLst/>
          </a:prstGeom>
          <a:solidFill>
            <a:srgbClr val="1D7A8C"/>
          </a:solidFill>
          <a:ln w="12700">
            <a:solidFill>
              <a:srgbClr val="1D7A8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65144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3665144" y="2377440"/>
            <a:ext cx="201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Prune window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665144" y="2743200"/>
            <a:ext cx="20192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Odbaci sve unose starije od 2 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33008" y="1463040"/>
            <a:ext cx="2567864" cy="2468880"/>
          </a:xfrm>
          <a:prstGeom prst="roundRect">
            <a:avLst>
              <a:gd name="adj" fmla="val 4444"/>
            </a:avLst>
          </a:prstGeom>
          <a:solidFill>
            <a:srgbClr val="F6F4EF"/>
          </a:solidFill>
          <a:ln w="9525">
            <a:solidFill>
              <a:srgbClr val="E3E0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507328" y="1737360"/>
            <a:ext cx="548640" cy="548640"/>
          </a:xfrm>
          <a:prstGeom prst="ellipse">
            <a:avLst/>
          </a:prstGeom>
          <a:solidFill>
            <a:srgbClr val="1D7A8C"/>
          </a:solidFill>
          <a:ln w="12700">
            <a:solidFill>
              <a:srgbClr val="1D7A8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07328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507328" y="2377440"/>
            <a:ext cx="201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Broji distinct node-ove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507328" y="2743200"/>
            <a:ext cx="20192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Isti node dvaput nije slaganje. Trebaju ≥ 2 distinct ID-a.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075191" y="1463040"/>
            <a:ext cx="2567864" cy="2468880"/>
          </a:xfrm>
          <a:prstGeom prst="roundRect">
            <a:avLst>
              <a:gd name="adj" fmla="val 4444"/>
            </a:avLst>
          </a:prstGeom>
          <a:solidFill>
            <a:srgbClr val="FBE5DD"/>
          </a:solidFill>
          <a:ln w="9525">
            <a:solidFill>
              <a:srgbClr val="E3E0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349511" y="1737360"/>
            <a:ext cx="548640" cy="54864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349511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9349511" y="2377440"/>
            <a:ext cx="201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+ cooldown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349511" y="2743200"/>
            <a:ext cx="20192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quake/alarm s max peak_gal, pa 10 s cooldowna: jedan potres, jedan alarm.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4160520"/>
            <a:ext cx="6583680" cy="1965960"/>
          </a:xfrm>
          <a:prstGeom prst="roundRect">
            <a:avLst>
              <a:gd name="adj" fmla="val 5581"/>
            </a:avLst>
          </a:prstGeom>
          <a:solidFill>
            <a:srgbClr val="14161C"/>
          </a:solidFill>
          <a:ln w="9525">
            <a:solidFill>
              <a:srgbClr val="E3E0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822960" y="4343400"/>
            <a:ext cx="60350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nodes = {e[0] for e in self._recent}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len(nodes) &lt; self.min_nodes:   # 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None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self._last_alarm_at = now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Alarm(nodes=sorted(nodes),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peak_gal=max(e[1] for e in self._recent))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498080" y="4160520"/>
            <a:ext cx="4144975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9525">
            <a:solidFill>
              <a:srgbClr val="E3E0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7772400" y="4343400"/>
            <a:ext cx="3596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shindo, nikad magnituda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7772400" y="4754880"/>
            <a:ext cx="35963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Tablica peak akceleracija → shindo živi u core.py; dashboard je importa, ne kopira, pa se ne mogu razići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Magnituda traži udaljenost epicentra i dubinu: jedna postaja to ne može. Polje nosi „n/a“, ne praznu ćeliju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 Radočaj · Fakultet informatike u Puli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Dashboard: jedna stranica, bez accounta, bez clouda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6766560" cy="4480560"/>
          </a:xfrm>
          <a:prstGeom prst="roundRect">
            <a:avLst>
              <a:gd name="adj" fmla="val 2449"/>
            </a:avLst>
          </a:prstGeom>
          <a:solidFill>
            <a:srgbClr val="14161C"/>
          </a:solidFill>
          <a:ln w="12700">
            <a:solidFill>
              <a:srgbClr val="14161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F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quake-net · localhost:8000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22960" y="201168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232733"/>
          </a:solidFill>
          <a:ln w="12700">
            <a:solidFill>
              <a:srgbClr val="2327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202996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560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926080" y="201168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232733"/>
          </a:solidFill>
          <a:ln w="12700">
            <a:solidFill>
              <a:srgbClr val="2327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063240" y="202996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3063240" y="2560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alarmi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0" y="201168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232733"/>
          </a:solidFill>
          <a:ln w="12700">
            <a:solidFill>
              <a:srgbClr val="2327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66360" y="202996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5166360" y="2560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3154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node-a4c1f8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657600" y="3154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22960" y="3907737"/>
            <a:ext cx="77724" cy="34236"/>
          </a:xfrm>
          <a:prstGeom prst="line">
            <a:avLst/>
          </a:prstGeom>
          <a:noFill/>
          <a:ln w="22225">
            <a:solidFill>
              <a:srgbClr val="1D7A8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900684" y="3922318"/>
            <a:ext cx="77724" cy="19655"/>
          </a:xfrm>
          <a:prstGeom prst="line">
            <a:avLst/>
          </a:prstGeom>
          <a:noFill/>
          <a:ln w="22225">
            <a:solidFill>
              <a:srgbClr val="1D7A8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78408" y="3922318"/>
            <a:ext cx="77724" cy="29163"/>
          </a:xfrm>
          <a:prstGeom prst="line">
            <a:avLst/>
          </a:prstGeom>
          <a:noFill/>
          <a:ln w="22225">
            <a:solidFill>
              <a:srgbClr val="1D7A8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V="1">
            <a:off x="1056132" y="3931682"/>
            <a:ext cx="77724" cy="19799"/>
          </a:xfrm>
          <a:prstGeom prst="line">
            <a:avLst/>
          </a:prstGeom>
          <a:noFill/>
          <a:ln w="22225">
            <a:solidFill>
              <a:srgbClr val="1D7A8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33856" y="3931682"/>
            <a:ext cx="77724" cy="4490"/>
          </a:xfrm>
          <a:prstGeom prst="line">
            <a:avLst/>
          </a:prstGeom>
          <a:noFill/>
          <a:ln w="22225">
            <a:solidFill>
              <a:srgbClr val="1D7A8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11580" y="3936172"/>
            <a:ext cx="77724" cy="20505"/>
          </a:xfrm>
          <a:prstGeom prst="line">
            <a:avLst/>
          </a:prstGeom>
          <a:noFill/>
          <a:ln w="22225">
            <a:solidFill>
              <a:srgbClr val="1D7A8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V="1">
            <a:off x="1289304" y="3921142"/>
            <a:ext cx="77724" cy="35536"/>
          </a:xfrm>
          <a:prstGeom prst="line">
            <a:avLst/>
          </a:prstGeom>
          <a:noFill/>
          <a:ln w="22225">
            <a:solidFill>
              <a:srgbClr val="1D7A8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V="1">
            <a:off x="1367028" y="3913301"/>
            <a:ext cx="77724" cy="7841"/>
          </a:xfrm>
          <a:prstGeom prst="line">
            <a:avLst/>
          </a:prstGeom>
          <a:noFill/>
          <a:ln w="22225">
            <a:solidFill>
              <a:srgbClr val="1D7A8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444752" y="3913301"/>
            <a:ext cx="77724" cy="31618"/>
          </a:xfrm>
          <a:prstGeom prst="line">
            <a:avLst/>
          </a:prstGeom>
          <a:noFill/>
          <a:ln w="22225">
            <a:solidFill>
              <a:srgbClr val="1D7A8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V="1">
            <a:off x="1522476" y="3936124"/>
            <a:ext cx="77724" cy="8795"/>
          </a:xfrm>
          <a:prstGeom prst="line">
            <a:avLst/>
          </a:prstGeom>
          <a:noFill/>
          <a:ln w="22225">
            <a:solidFill>
              <a:srgbClr val="1D7A8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V="1">
            <a:off x="1600200" y="3910837"/>
            <a:ext cx="77724" cy="25287"/>
          </a:xfrm>
          <a:prstGeom prst="line">
            <a:avLst/>
          </a:prstGeom>
          <a:noFill/>
          <a:ln w="22225">
            <a:solidFill>
              <a:srgbClr val="1D7A8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677924" y="3910837"/>
            <a:ext cx="77724" cy="17702"/>
          </a:xfrm>
          <a:prstGeom prst="line">
            <a:avLst/>
          </a:prstGeom>
          <a:noFill/>
          <a:ln w="22225">
            <a:solidFill>
              <a:srgbClr val="1D7A8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755648" y="3928539"/>
            <a:ext cx="77724" cy="20541"/>
          </a:xfrm>
          <a:prstGeom prst="line">
            <a:avLst/>
          </a:prstGeom>
          <a:noFill/>
          <a:ln w="22225">
            <a:solidFill>
              <a:srgbClr val="1D7A8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V="1">
            <a:off x="1833372" y="3946364"/>
            <a:ext cx="77724" cy="2717"/>
          </a:xfrm>
          <a:prstGeom prst="line">
            <a:avLst/>
          </a:prstGeom>
          <a:noFill/>
          <a:ln w="22225">
            <a:solidFill>
              <a:srgbClr val="1D7A8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V="1">
            <a:off x="1911096" y="3938573"/>
            <a:ext cx="77724" cy="7791"/>
          </a:xfrm>
          <a:prstGeom prst="line">
            <a:avLst/>
          </a:prstGeom>
          <a:noFill/>
          <a:ln w="22225">
            <a:solidFill>
              <a:srgbClr val="1D7A8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V="1">
            <a:off x="1988820" y="3937699"/>
            <a:ext cx="77724" cy="914"/>
          </a:xfrm>
          <a:prstGeom prst="line">
            <a:avLst/>
          </a:prstGeom>
          <a:noFill/>
          <a:ln w="22225">
            <a:solidFill>
              <a:srgbClr val="1D7A8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V="1">
            <a:off x="2066544" y="3921434"/>
            <a:ext cx="77724" cy="16266"/>
          </a:xfrm>
          <a:prstGeom prst="line">
            <a:avLst/>
          </a:prstGeom>
          <a:noFill/>
          <a:ln w="22225">
            <a:solidFill>
              <a:srgbClr val="1D7A8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44268" y="3921434"/>
            <a:ext cx="77724" cy="7680"/>
          </a:xfrm>
          <a:prstGeom prst="line">
            <a:avLst/>
          </a:prstGeom>
          <a:noFill/>
          <a:ln w="22225">
            <a:solidFill>
              <a:srgbClr val="1D7A8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221992" y="3929114"/>
            <a:ext cx="77724" cy="23387"/>
          </a:xfrm>
          <a:prstGeom prst="line">
            <a:avLst/>
          </a:prstGeom>
          <a:noFill/>
          <a:ln w="22225">
            <a:solidFill>
              <a:srgbClr val="1D7A8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flipV="1">
            <a:off x="2299716" y="3916413"/>
            <a:ext cx="77724" cy="36088"/>
          </a:xfrm>
          <a:prstGeom prst="line">
            <a:avLst/>
          </a:prstGeom>
          <a:noFill/>
          <a:ln w="22225">
            <a:solidFill>
              <a:srgbClr val="1D7A8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377440" y="3916413"/>
            <a:ext cx="77724" cy="39034"/>
          </a:xfrm>
          <a:prstGeom prst="line">
            <a:avLst/>
          </a:prstGeom>
          <a:noFill/>
          <a:ln w="22225">
            <a:solidFill>
              <a:srgbClr val="1D7A8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455164" y="3955448"/>
            <a:ext cx="77724" cy="914"/>
          </a:xfrm>
          <a:prstGeom prst="line">
            <a:avLst/>
          </a:prstGeom>
          <a:noFill/>
          <a:ln w="22225">
            <a:solidFill>
              <a:srgbClr val="1D7A8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flipV="1">
            <a:off x="2532888" y="3954836"/>
            <a:ext cx="77724" cy="1055"/>
          </a:xfrm>
          <a:prstGeom prst="line">
            <a:avLst/>
          </a:prstGeom>
          <a:noFill/>
          <a:ln w="22225">
            <a:solidFill>
              <a:srgbClr val="1D7A8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flipV="1">
            <a:off x="2610612" y="3937062"/>
            <a:ext cx="77724" cy="17775"/>
          </a:xfrm>
          <a:prstGeom prst="line">
            <a:avLst/>
          </a:prstGeom>
          <a:noFill/>
          <a:ln w="22225">
            <a:solidFill>
              <a:srgbClr val="1D7A8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flipV="1">
            <a:off x="2688336" y="3936834"/>
            <a:ext cx="77724" cy="914"/>
          </a:xfrm>
          <a:prstGeom prst="line">
            <a:avLst/>
          </a:prstGeom>
          <a:noFill/>
          <a:ln w="22225">
            <a:solidFill>
              <a:srgbClr val="1D7A8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flipV="1">
            <a:off x="2766060" y="3911317"/>
            <a:ext cx="77724" cy="25516"/>
          </a:xfrm>
          <a:prstGeom prst="line">
            <a:avLst/>
          </a:prstGeom>
          <a:noFill/>
          <a:ln w="22225">
            <a:solidFill>
              <a:srgbClr val="1D7A8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843784" y="3911317"/>
            <a:ext cx="77724" cy="4923"/>
          </a:xfrm>
          <a:prstGeom prst="line">
            <a:avLst/>
          </a:prstGeom>
          <a:noFill/>
          <a:ln w="22225">
            <a:solidFill>
              <a:srgbClr val="1D7A8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921508" y="3916241"/>
            <a:ext cx="77724" cy="29835"/>
          </a:xfrm>
          <a:prstGeom prst="line">
            <a:avLst/>
          </a:prstGeom>
          <a:noFill/>
          <a:ln w="22225">
            <a:solidFill>
              <a:srgbClr val="1D7A8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flipV="1">
            <a:off x="2999232" y="3898201"/>
            <a:ext cx="77724" cy="47875"/>
          </a:xfrm>
          <a:prstGeom prst="line">
            <a:avLst/>
          </a:prstGeom>
          <a:noFill/>
          <a:ln w="22225">
            <a:solidFill>
              <a:srgbClr val="1D7A8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076956" y="3898201"/>
            <a:ext cx="77724" cy="120340"/>
          </a:xfrm>
          <a:prstGeom prst="line">
            <a:avLst/>
          </a:prstGeom>
          <a:noFill/>
          <a:ln w="22225">
            <a:solidFill>
              <a:srgbClr val="1D7A8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flipV="1">
            <a:off x="3154680" y="3968917"/>
            <a:ext cx="77724" cy="49624"/>
          </a:xfrm>
          <a:prstGeom prst="line">
            <a:avLst/>
          </a:prstGeom>
          <a:noFill/>
          <a:ln w="22225">
            <a:solidFill>
              <a:srgbClr val="1D7A8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232404" y="3968917"/>
            <a:ext cx="77724" cy="40998"/>
          </a:xfrm>
          <a:prstGeom prst="line">
            <a:avLst/>
          </a:prstGeom>
          <a:noFill/>
          <a:ln w="22225">
            <a:solidFill>
              <a:srgbClr val="1D7A8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310128" y="4009915"/>
            <a:ext cx="77724" cy="49597"/>
          </a:xfrm>
          <a:prstGeom prst="line">
            <a:avLst/>
          </a:prstGeom>
          <a:noFill/>
          <a:ln w="22225">
            <a:solidFill>
              <a:srgbClr val="1D7A8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flipV="1">
            <a:off x="3387852" y="3990861"/>
            <a:ext cx="77724" cy="68651"/>
          </a:xfrm>
          <a:prstGeom prst="line">
            <a:avLst/>
          </a:prstGeom>
          <a:noFill/>
          <a:ln w="22225">
            <a:solidFill>
              <a:srgbClr val="1D7A8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465576" y="3990861"/>
            <a:ext cx="77724" cy="165000"/>
          </a:xfrm>
          <a:prstGeom prst="line">
            <a:avLst/>
          </a:prstGeom>
          <a:noFill/>
          <a:ln w="22225">
            <a:solidFill>
              <a:srgbClr val="1D7A8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flipV="1">
            <a:off x="3543300" y="4031764"/>
            <a:ext cx="77724" cy="124097"/>
          </a:xfrm>
          <a:prstGeom prst="line">
            <a:avLst/>
          </a:prstGeom>
          <a:noFill/>
          <a:ln w="22225">
            <a:solidFill>
              <a:srgbClr val="1D7A8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621024" y="4031764"/>
            <a:ext cx="77724" cy="13656"/>
          </a:xfrm>
          <a:prstGeom prst="line">
            <a:avLst/>
          </a:prstGeom>
          <a:noFill/>
          <a:ln w="22225">
            <a:solidFill>
              <a:srgbClr val="1D7A8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flipV="1">
            <a:off x="3698748" y="3976372"/>
            <a:ext cx="77724" cy="69048"/>
          </a:xfrm>
          <a:prstGeom prst="line">
            <a:avLst/>
          </a:prstGeom>
          <a:noFill/>
          <a:ln w="22225">
            <a:solidFill>
              <a:srgbClr val="1D7A8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 flipV="1">
            <a:off x="3776472" y="3855225"/>
            <a:ext cx="77724" cy="121147"/>
          </a:xfrm>
          <a:prstGeom prst="line">
            <a:avLst/>
          </a:prstGeom>
          <a:noFill/>
          <a:ln w="22225">
            <a:solidFill>
              <a:srgbClr val="1D7A8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854196" y="3855225"/>
            <a:ext cx="77724" cy="334756"/>
          </a:xfrm>
          <a:prstGeom prst="line">
            <a:avLst/>
          </a:prstGeom>
          <a:noFill/>
          <a:ln w="22225">
            <a:solidFill>
              <a:srgbClr val="1D7A8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 flipV="1">
            <a:off x="3931920" y="3966503"/>
            <a:ext cx="77724" cy="223478"/>
          </a:xfrm>
          <a:prstGeom prst="line">
            <a:avLst/>
          </a:prstGeom>
          <a:noFill/>
          <a:ln w="22225">
            <a:solidFill>
              <a:srgbClr val="1D7A8C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009644" y="3966503"/>
            <a:ext cx="77724" cy="45811"/>
          </a:xfrm>
          <a:prstGeom prst="line">
            <a:avLst/>
          </a:prstGeom>
          <a:noFill/>
          <a:ln w="22225">
            <a:solidFill>
              <a:srgbClr val="1D7A8C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 flipV="1">
            <a:off x="4087368" y="3806723"/>
            <a:ext cx="77724" cy="205591"/>
          </a:xfrm>
          <a:prstGeom prst="line">
            <a:avLst/>
          </a:prstGeom>
          <a:noFill/>
          <a:ln w="22225">
            <a:solidFill>
              <a:srgbClr val="1D7A8C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165092" y="3806723"/>
            <a:ext cx="77724" cy="405781"/>
          </a:xfrm>
          <a:prstGeom prst="line">
            <a:avLst/>
          </a:prstGeom>
          <a:noFill/>
          <a:ln w="22225">
            <a:solidFill>
              <a:srgbClr val="1D7A8C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 flipV="1">
            <a:off x="4242816" y="4211943"/>
            <a:ext cx="77724" cy="914"/>
          </a:xfrm>
          <a:prstGeom prst="line">
            <a:avLst/>
          </a:prstGeom>
          <a:noFill/>
          <a:ln w="22225">
            <a:solidFill>
              <a:srgbClr val="1D7A8C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 flipV="1">
            <a:off x="4320540" y="3697874"/>
            <a:ext cx="77724" cy="514069"/>
          </a:xfrm>
          <a:prstGeom prst="line">
            <a:avLst/>
          </a:prstGeom>
          <a:noFill/>
          <a:ln w="22225">
            <a:solidFill>
              <a:srgbClr val="1D7A8C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398264" y="3697874"/>
            <a:ext cx="77724" cy="2194"/>
          </a:xfrm>
          <a:prstGeom prst="line">
            <a:avLst/>
          </a:prstGeom>
          <a:noFill/>
          <a:ln w="22225">
            <a:solidFill>
              <a:srgbClr val="1D7A8C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475988" y="3700069"/>
            <a:ext cx="77724" cy="165137"/>
          </a:xfrm>
          <a:prstGeom prst="line">
            <a:avLst/>
          </a:prstGeom>
          <a:noFill/>
          <a:ln w="22225">
            <a:solidFill>
              <a:srgbClr val="1D7A8C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553712" y="3865206"/>
            <a:ext cx="77724" cy="31592"/>
          </a:xfrm>
          <a:prstGeom prst="line">
            <a:avLst/>
          </a:prstGeom>
          <a:noFill/>
          <a:ln w="22225">
            <a:solidFill>
              <a:srgbClr val="1D7A8C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 flipV="1">
            <a:off x="4631436" y="3654489"/>
            <a:ext cx="77724" cy="242308"/>
          </a:xfrm>
          <a:prstGeom prst="line">
            <a:avLst/>
          </a:prstGeom>
          <a:noFill/>
          <a:ln w="22225">
            <a:solidFill>
              <a:srgbClr val="1D7A8C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709160" y="3654489"/>
            <a:ext cx="77724" cy="300710"/>
          </a:xfrm>
          <a:prstGeom prst="line">
            <a:avLst/>
          </a:prstGeom>
          <a:noFill/>
          <a:ln w="22225">
            <a:solidFill>
              <a:srgbClr val="1D7A8C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786884" y="3955199"/>
            <a:ext cx="77724" cy="41256"/>
          </a:xfrm>
          <a:prstGeom prst="line">
            <a:avLst/>
          </a:prstGeom>
          <a:noFill/>
          <a:ln w="22225">
            <a:solidFill>
              <a:srgbClr val="1D7A8C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864608" y="3996455"/>
            <a:ext cx="77724" cy="115050"/>
          </a:xfrm>
          <a:prstGeom prst="line">
            <a:avLst/>
          </a:prstGeom>
          <a:noFill/>
          <a:ln w="22225">
            <a:solidFill>
              <a:srgbClr val="1D7A8C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 flipV="1">
            <a:off x="4942332" y="4090238"/>
            <a:ext cx="77724" cy="21267"/>
          </a:xfrm>
          <a:prstGeom prst="line">
            <a:avLst/>
          </a:prstGeom>
          <a:noFill/>
          <a:ln w="22225">
            <a:solidFill>
              <a:srgbClr val="1D7A8C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 flipV="1">
            <a:off x="5020056" y="4035796"/>
            <a:ext cx="77724" cy="54442"/>
          </a:xfrm>
          <a:prstGeom prst="line">
            <a:avLst/>
          </a:prstGeom>
          <a:noFill/>
          <a:ln w="22225">
            <a:solidFill>
              <a:srgbClr val="1D7A8C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5097780" y="4035796"/>
            <a:ext cx="77724" cy="13943"/>
          </a:xfrm>
          <a:prstGeom prst="line">
            <a:avLst/>
          </a:prstGeom>
          <a:noFill/>
          <a:ln w="22225">
            <a:solidFill>
              <a:srgbClr val="1D7A8C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 flipV="1">
            <a:off x="5175504" y="3859790"/>
            <a:ext cx="77724" cy="189950"/>
          </a:xfrm>
          <a:prstGeom prst="line">
            <a:avLst/>
          </a:prstGeom>
          <a:noFill/>
          <a:ln w="22225">
            <a:solidFill>
              <a:srgbClr val="1D7A8C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253228" y="3859790"/>
            <a:ext cx="77724" cy="99962"/>
          </a:xfrm>
          <a:prstGeom prst="line">
            <a:avLst/>
          </a:prstGeom>
          <a:noFill/>
          <a:ln w="22225">
            <a:solidFill>
              <a:srgbClr val="1D7A8C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 flipV="1">
            <a:off x="5330952" y="3947335"/>
            <a:ext cx="77724" cy="12417"/>
          </a:xfrm>
          <a:prstGeom prst="line">
            <a:avLst/>
          </a:prstGeom>
          <a:noFill/>
          <a:ln w="22225">
            <a:solidFill>
              <a:srgbClr val="1D7A8C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 flipV="1">
            <a:off x="5408676" y="3927974"/>
            <a:ext cx="77724" cy="19361"/>
          </a:xfrm>
          <a:prstGeom prst="line">
            <a:avLst/>
          </a:prstGeom>
          <a:noFill/>
          <a:ln w="22225">
            <a:solidFill>
              <a:srgbClr val="1D7A8C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 flipV="1">
            <a:off x="5486400" y="3908098"/>
            <a:ext cx="77724" cy="19876"/>
          </a:xfrm>
          <a:prstGeom prst="line">
            <a:avLst/>
          </a:prstGeom>
          <a:noFill/>
          <a:ln w="22225">
            <a:solidFill>
              <a:srgbClr val="1D7A8C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564124" y="3908098"/>
            <a:ext cx="77724" cy="35118"/>
          </a:xfrm>
          <a:prstGeom prst="line">
            <a:avLst/>
          </a:prstGeom>
          <a:noFill/>
          <a:ln w="22225">
            <a:solidFill>
              <a:srgbClr val="1D7A8C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 flipV="1">
            <a:off x="5641848" y="3923152"/>
            <a:ext cx="77724" cy="20064"/>
          </a:xfrm>
          <a:prstGeom prst="line">
            <a:avLst/>
          </a:prstGeom>
          <a:noFill/>
          <a:ln w="22225">
            <a:solidFill>
              <a:srgbClr val="1D7A8C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719572" y="3923152"/>
            <a:ext cx="77724" cy="5355"/>
          </a:xfrm>
          <a:prstGeom prst="line">
            <a:avLst/>
          </a:prstGeom>
          <a:noFill/>
          <a:ln w="22225">
            <a:solidFill>
              <a:srgbClr val="1D7A8C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 flipV="1">
            <a:off x="5797296" y="3919811"/>
            <a:ext cx="77724" cy="8696"/>
          </a:xfrm>
          <a:prstGeom prst="line">
            <a:avLst/>
          </a:prstGeom>
          <a:noFill/>
          <a:ln w="22225">
            <a:solidFill>
              <a:srgbClr val="1D7A8C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5875020" y="3919811"/>
            <a:ext cx="77724" cy="12467"/>
          </a:xfrm>
          <a:prstGeom prst="line">
            <a:avLst/>
          </a:prstGeom>
          <a:noFill/>
          <a:ln w="22225">
            <a:solidFill>
              <a:srgbClr val="1D7A8C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 flipV="1">
            <a:off x="5952744" y="3922595"/>
            <a:ext cx="77724" cy="9682"/>
          </a:xfrm>
          <a:prstGeom prst="line">
            <a:avLst/>
          </a:prstGeom>
          <a:noFill/>
          <a:ln w="22225">
            <a:solidFill>
              <a:srgbClr val="1D7A8C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 flipV="1">
            <a:off x="6030468" y="3917428"/>
            <a:ext cx="77724" cy="5167"/>
          </a:xfrm>
          <a:prstGeom prst="line">
            <a:avLst/>
          </a:prstGeom>
          <a:noFill/>
          <a:ln w="22225">
            <a:solidFill>
              <a:srgbClr val="1D7A8C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6108192" y="3917428"/>
            <a:ext cx="77724" cy="34038"/>
          </a:xfrm>
          <a:prstGeom prst="line">
            <a:avLst/>
          </a:prstGeom>
          <a:noFill/>
          <a:ln w="22225">
            <a:solidFill>
              <a:srgbClr val="1D7A8C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 flipV="1">
            <a:off x="6185916" y="3911365"/>
            <a:ext cx="77724" cy="40101"/>
          </a:xfrm>
          <a:prstGeom prst="line">
            <a:avLst/>
          </a:prstGeom>
          <a:noFill/>
          <a:ln w="22225">
            <a:solidFill>
              <a:srgbClr val="1D7A8C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 flipV="1">
            <a:off x="6263640" y="3908177"/>
            <a:ext cx="77724" cy="3188"/>
          </a:xfrm>
          <a:prstGeom prst="line">
            <a:avLst/>
          </a:prstGeom>
          <a:noFill/>
          <a:ln w="22225">
            <a:solidFill>
              <a:srgbClr val="1D7A8C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6341364" y="3908177"/>
            <a:ext cx="77724" cy="32814"/>
          </a:xfrm>
          <a:prstGeom prst="line">
            <a:avLst/>
          </a:prstGeom>
          <a:noFill/>
          <a:ln w="22225">
            <a:solidFill>
              <a:srgbClr val="1D7A8C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 flipV="1">
            <a:off x="6419088" y="3921329"/>
            <a:ext cx="77724" cy="19661"/>
          </a:xfrm>
          <a:prstGeom prst="line">
            <a:avLst/>
          </a:prstGeom>
          <a:noFill/>
          <a:ln w="22225">
            <a:solidFill>
              <a:srgbClr val="1D7A8C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496812" y="3921329"/>
            <a:ext cx="77724" cy="8721"/>
          </a:xfrm>
          <a:prstGeom prst="line">
            <a:avLst/>
          </a:prstGeom>
          <a:noFill/>
          <a:ln w="22225">
            <a:solidFill>
              <a:srgbClr val="1D7A8C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 flipV="1">
            <a:off x="6574536" y="3928439"/>
            <a:ext cx="77724" cy="1611"/>
          </a:xfrm>
          <a:prstGeom prst="line">
            <a:avLst/>
          </a:prstGeom>
          <a:noFill/>
          <a:ln w="22225">
            <a:solidFill>
              <a:srgbClr val="1D7A8C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6652260" y="3928439"/>
            <a:ext cx="77724" cy="12613"/>
          </a:xfrm>
          <a:prstGeom prst="line">
            <a:avLst/>
          </a:prstGeom>
          <a:noFill/>
          <a:ln w="22225">
            <a:solidFill>
              <a:srgbClr val="1D7A8C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 flipV="1">
            <a:off x="6729984" y="3936004"/>
            <a:ext cx="77724" cy="5048"/>
          </a:xfrm>
          <a:prstGeom prst="line">
            <a:avLst/>
          </a:prstGeom>
          <a:noFill/>
          <a:ln w="22225">
            <a:solidFill>
              <a:srgbClr val="1D7A8C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 flipV="1">
            <a:off x="6807708" y="3916010"/>
            <a:ext cx="77724" cy="19994"/>
          </a:xfrm>
          <a:prstGeom prst="line">
            <a:avLst/>
          </a:prstGeom>
          <a:noFill/>
          <a:ln w="22225">
            <a:solidFill>
              <a:srgbClr val="1D7A8C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6885432" y="3916010"/>
            <a:ext cx="77724" cy="29701"/>
          </a:xfrm>
          <a:prstGeom prst="line">
            <a:avLst/>
          </a:prstGeom>
          <a:noFill/>
          <a:ln w="22225">
            <a:solidFill>
              <a:srgbClr val="1D7A8C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 flipV="1">
            <a:off x="6963156" y="3937104"/>
            <a:ext cx="77724" cy="8608"/>
          </a:xfrm>
          <a:prstGeom prst="line">
            <a:avLst/>
          </a:prstGeom>
          <a:noFill/>
          <a:ln w="22225">
            <a:solidFill>
              <a:srgbClr val="1D7A8C"/>
            </a:solidFill>
            <a:prstDash val="solid"/>
          </a:ln>
        </p:spPr>
      </p:sp>
      <p:sp>
        <p:nvSpPr>
          <p:cNvPr id="96" name="Text 94"/>
          <p:cNvSpPr txBox="1"/>
          <p:nvPr/>
        </p:nvSpPr>
        <p:spPr>
          <a:xfrm>
            <a:off x="822960" y="4526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sim-000001</a:t>
            </a:r>
            <a:endParaRPr lang="en-US" sz="1100" dirty="0"/>
          </a:p>
        </p:txBody>
      </p:sp>
      <p:sp>
        <p:nvSpPr>
          <p:cNvPr id="97" name="Text 95"/>
          <p:cNvSpPr txBox="1"/>
          <p:nvPr/>
        </p:nvSpPr>
        <p:spPr>
          <a:xfrm>
            <a:off x="3657600" y="4526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</a:t>
            </a:r>
            <a:endParaRPr lang="en-US" sz="1000" dirty="0"/>
          </a:p>
        </p:txBody>
      </p:sp>
      <p:sp>
        <p:nvSpPr>
          <p:cNvPr id="98" name="Shape 96"/>
          <p:cNvSpPr/>
          <p:nvPr/>
        </p:nvSpPr>
        <p:spPr>
          <a:xfrm flipV="1">
            <a:off x="822960" y="5291133"/>
            <a:ext cx="77724" cy="15937"/>
          </a:xfrm>
          <a:prstGeom prst="line">
            <a:avLst/>
          </a:prstGeom>
          <a:noFill/>
          <a:ln w="22225">
            <a:solidFill>
              <a:srgbClr val="E9B44C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900684" y="5291133"/>
            <a:ext cx="77724" cy="32709"/>
          </a:xfrm>
          <a:prstGeom prst="line">
            <a:avLst/>
          </a:prstGeom>
          <a:noFill/>
          <a:ln w="22225">
            <a:solidFill>
              <a:srgbClr val="E9B44C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 flipV="1">
            <a:off x="978408" y="5294351"/>
            <a:ext cx="77724" cy="29491"/>
          </a:xfrm>
          <a:prstGeom prst="line">
            <a:avLst/>
          </a:prstGeom>
          <a:noFill/>
          <a:ln w="22225">
            <a:solidFill>
              <a:srgbClr val="E9B44C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056132" y="5294351"/>
            <a:ext cx="77724" cy="25246"/>
          </a:xfrm>
          <a:prstGeom prst="line">
            <a:avLst/>
          </a:prstGeom>
          <a:noFill/>
          <a:ln w="22225">
            <a:solidFill>
              <a:srgbClr val="E9B44C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 flipV="1">
            <a:off x="1133856" y="5284535"/>
            <a:ext cx="77724" cy="35062"/>
          </a:xfrm>
          <a:prstGeom prst="line">
            <a:avLst/>
          </a:prstGeom>
          <a:noFill/>
          <a:ln w="22225">
            <a:solidFill>
              <a:srgbClr val="E9B44C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1211580" y="5284535"/>
            <a:ext cx="77724" cy="18724"/>
          </a:xfrm>
          <a:prstGeom prst="line">
            <a:avLst/>
          </a:prstGeom>
          <a:noFill/>
          <a:ln w="22225">
            <a:solidFill>
              <a:srgbClr val="E9B44C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 flipV="1">
            <a:off x="1289304" y="5300190"/>
            <a:ext cx="77724" cy="3069"/>
          </a:xfrm>
          <a:prstGeom prst="line">
            <a:avLst/>
          </a:prstGeom>
          <a:noFill/>
          <a:ln w="22225">
            <a:solidFill>
              <a:srgbClr val="E9B44C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 flipV="1">
            <a:off x="1367028" y="5299754"/>
            <a:ext cx="77724" cy="914"/>
          </a:xfrm>
          <a:prstGeom prst="line">
            <a:avLst/>
          </a:prstGeom>
          <a:noFill/>
          <a:ln w="22225">
            <a:solidFill>
              <a:srgbClr val="E9B44C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 flipV="1">
            <a:off x="1444752" y="5289549"/>
            <a:ext cx="77724" cy="10205"/>
          </a:xfrm>
          <a:prstGeom prst="line">
            <a:avLst/>
          </a:prstGeom>
          <a:noFill/>
          <a:ln w="22225">
            <a:solidFill>
              <a:srgbClr val="E9B44C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 flipV="1">
            <a:off x="1522476" y="5288511"/>
            <a:ext cx="77724" cy="1037"/>
          </a:xfrm>
          <a:prstGeom prst="line">
            <a:avLst/>
          </a:prstGeom>
          <a:noFill/>
          <a:ln w="22225">
            <a:solidFill>
              <a:srgbClr val="E9B44C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1600200" y="5288511"/>
            <a:ext cx="77724" cy="11336"/>
          </a:xfrm>
          <a:prstGeom prst="line">
            <a:avLst/>
          </a:prstGeom>
          <a:noFill/>
          <a:ln w="22225">
            <a:solidFill>
              <a:srgbClr val="E9B44C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1677924" y="5299848"/>
            <a:ext cx="77724" cy="10740"/>
          </a:xfrm>
          <a:prstGeom prst="line">
            <a:avLst/>
          </a:prstGeom>
          <a:noFill/>
          <a:ln w="22225">
            <a:solidFill>
              <a:srgbClr val="E9B44C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 flipV="1">
            <a:off x="1755648" y="5293314"/>
            <a:ext cx="77724" cy="17273"/>
          </a:xfrm>
          <a:prstGeom prst="line">
            <a:avLst/>
          </a:prstGeom>
          <a:noFill/>
          <a:ln w="22225">
            <a:solidFill>
              <a:srgbClr val="E9B44C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 flipV="1">
            <a:off x="1833372" y="5293141"/>
            <a:ext cx="77724" cy="914"/>
          </a:xfrm>
          <a:prstGeom prst="line">
            <a:avLst/>
          </a:prstGeom>
          <a:noFill/>
          <a:ln w="22225">
            <a:solidFill>
              <a:srgbClr val="E9B44C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1911096" y="5293141"/>
            <a:ext cx="77724" cy="21177"/>
          </a:xfrm>
          <a:prstGeom prst="line">
            <a:avLst/>
          </a:prstGeom>
          <a:noFill/>
          <a:ln w="22225">
            <a:solidFill>
              <a:srgbClr val="E9B44C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 flipV="1">
            <a:off x="1988820" y="5285982"/>
            <a:ext cx="77724" cy="28335"/>
          </a:xfrm>
          <a:prstGeom prst="line">
            <a:avLst/>
          </a:prstGeom>
          <a:noFill/>
          <a:ln w="22225">
            <a:solidFill>
              <a:srgbClr val="E9B44C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 flipV="1">
            <a:off x="2066544" y="5281954"/>
            <a:ext cx="77724" cy="4028"/>
          </a:xfrm>
          <a:prstGeom prst="line">
            <a:avLst/>
          </a:prstGeom>
          <a:noFill/>
          <a:ln w="22225">
            <a:solidFill>
              <a:srgbClr val="E9B44C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2144268" y="5281954"/>
            <a:ext cx="77724" cy="3729"/>
          </a:xfrm>
          <a:prstGeom prst="line">
            <a:avLst/>
          </a:prstGeom>
          <a:noFill/>
          <a:ln w="22225">
            <a:solidFill>
              <a:srgbClr val="E9B44C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2221992" y="5285684"/>
            <a:ext cx="77724" cy="18071"/>
          </a:xfrm>
          <a:prstGeom prst="line">
            <a:avLst/>
          </a:prstGeom>
          <a:noFill/>
          <a:ln w="22225">
            <a:solidFill>
              <a:srgbClr val="E9B44C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 flipV="1">
            <a:off x="2299716" y="5297143"/>
            <a:ext cx="77724" cy="6612"/>
          </a:xfrm>
          <a:prstGeom prst="line">
            <a:avLst/>
          </a:prstGeom>
          <a:noFill/>
          <a:ln w="22225">
            <a:solidFill>
              <a:srgbClr val="E9B44C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 flipV="1">
            <a:off x="2377440" y="5281173"/>
            <a:ext cx="77724" cy="15971"/>
          </a:xfrm>
          <a:prstGeom prst="line">
            <a:avLst/>
          </a:prstGeom>
          <a:noFill/>
          <a:ln w="22225">
            <a:solidFill>
              <a:srgbClr val="E9B44C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 flipV="1">
            <a:off x="2455164" y="5279390"/>
            <a:ext cx="77724" cy="1783"/>
          </a:xfrm>
          <a:prstGeom prst="line">
            <a:avLst/>
          </a:prstGeom>
          <a:noFill/>
          <a:ln w="22225">
            <a:solidFill>
              <a:srgbClr val="E9B44C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2532888" y="5279390"/>
            <a:ext cx="77724" cy="47803"/>
          </a:xfrm>
          <a:prstGeom prst="line">
            <a:avLst/>
          </a:prstGeom>
          <a:noFill/>
          <a:ln w="22225">
            <a:solidFill>
              <a:srgbClr val="E9B44C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 flipV="1">
            <a:off x="2610612" y="5301243"/>
            <a:ext cx="77724" cy="25951"/>
          </a:xfrm>
          <a:prstGeom prst="line">
            <a:avLst/>
          </a:prstGeom>
          <a:noFill/>
          <a:ln w="22225">
            <a:solidFill>
              <a:srgbClr val="E9B44C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2688336" y="5301243"/>
            <a:ext cx="77724" cy="17434"/>
          </a:xfrm>
          <a:prstGeom prst="line">
            <a:avLst/>
          </a:prstGeom>
          <a:noFill/>
          <a:ln w="22225">
            <a:solidFill>
              <a:srgbClr val="E9B44C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 flipV="1">
            <a:off x="2766060" y="5280430"/>
            <a:ext cx="77724" cy="38246"/>
          </a:xfrm>
          <a:prstGeom prst="line">
            <a:avLst/>
          </a:prstGeom>
          <a:noFill/>
          <a:ln w="22225">
            <a:solidFill>
              <a:srgbClr val="E9B44C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2843784" y="5280430"/>
            <a:ext cx="77724" cy="1557"/>
          </a:xfrm>
          <a:prstGeom prst="line">
            <a:avLst/>
          </a:prstGeom>
          <a:noFill/>
          <a:ln w="22225">
            <a:solidFill>
              <a:srgbClr val="E9B44C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2921508" y="5281988"/>
            <a:ext cx="77724" cy="42183"/>
          </a:xfrm>
          <a:prstGeom prst="line">
            <a:avLst/>
          </a:prstGeom>
          <a:noFill/>
          <a:ln w="22225">
            <a:solidFill>
              <a:srgbClr val="E9B44C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2999232" y="5324171"/>
            <a:ext cx="77724" cy="24644"/>
          </a:xfrm>
          <a:prstGeom prst="line">
            <a:avLst/>
          </a:prstGeom>
          <a:noFill/>
          <a:ln w="22225">
            <a:solidFill>
              <a:srgbClr val="E9B44C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 flipV="1">
            <a:off x="3076956" y="5233064"/>
            <a:ext cx="77724" cy="115750"/>
          </a:xfrm>
          <a:prstGeom prst="line">
            <a:avLst/>
          </a:prstGeom>
          <a:noFill/>
          <a:ln w="22225">
            <a:solidFill>
              <a:srgbClr val="E9B44C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3154680" y="5233064"/>
            <a:ext cx="77724" cy="91156"/>
          </a:xfrm>
          <a:prstGeom prst="line">
            <a:avLst/>
          </a:prstGeom>
          <a:noFill/>
          <a:ln w="22225">
            <a:solidFill>
              <a:srgbClr val="E9B44C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3232404" y="5324220"/>
            <a:ext cx="77724" cy="84396"/>
          </a:xfrm>
          <a:prstGeom prst="line">
            <a:avLst/>
          </a:prstGeom>
          <a:noFill/>
          <a:ln w="22225">
            <a:solidFill>
              <a:srgbClr val="E9B44C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3310128" y="5408617"/>
            <a:ext cx="77724" cy="22781"/>
          </a:xfrm>
          <a:prstGeom prst="line">
            <a:avLst/>
          </a:prstGeom>
          <a:noFill/>
          <a:ln w="22225">
            <a:solidFill>
              <a:srgbClr val="E9B44C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 flipV="1">
            <a:off x="3387852" y="5315430"/>
            <a:ext cx="77724" cy="115967"/>
          </a:xfrm>
          <a:prstGeom prst="line">
            <a:avLst/>
          </a:prstGeom>
          <a:noFill/>
          <a:ln w="22225">
            <a:solidFill>
              <a:srgbClr val="E9B44C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3465576" y="5315430"/>
            <a:ext cx="77724" cy="110855"/>
          </a:xfrm>
          <a:prstGeom prst="line">
            <a:avLst/>
          </a:prstGeom>
          <a:noFill/>
          <a:ln w="22225">
            <a:solidFill>
              <a:srgbClr val="E9B44C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 flipV="1">
            <a:off x="3543300" y="5411030"/>
            <a:ext cx="77724" cy="15255"/>
          </a:xfrm>
          <a:prstGeom prst="line">
            <a:avLst/>
          </a:prstGeom>
          <a:noFill/>
          <a:ln w="22225">
            <a:solidFill>
              <a:srgbClr val="E9B44C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 flipV="1">
            <a:off x="3621024" y="5121623"/>
            <a:ext cx="77724" cy="289407"/>
          </a:xfrm>
          <a:prstGeom prst="line">
            <a:avLst/>
          </a:prstGeom>
          <a:noFill/>
          <a:ln w="22225">
            <a:solidFill>
              <a:srgbClr val="E9B44C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3698748" y="5121623"/>
            <a:ext cx="77724" cy="72113"/>
          </a:xfrm>
          <a:prstGeom prst="line">
            <a:avLst/>
          </a:prstGeom>
          <a:noFill/>
          <a:ln w="22225">
            <a:solidFill>
              <a:srgbClr val="E9B44C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3776472" y="5193736"/>
            <a:ext cx="77724" cy="196072"/>
          </a:xfrm>
          <a:prstGeom prst="line">
            <a:avLst/>
          </a:prstGeom>
          <a:noFill/>
          <a:ln w="22225">
            <a:solidFill>
              <a:srgbClr val="E9B44C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3854196" y="5389809"/>
            <a:ext cx="77724" cy="86756"/>
          </a:xfrm>
          <a:prstGeom prst="line">
            <a:avLst/>
          </a:prstGeom>
          <a:noFill/>
          <a:ln w="22225">
            <a:solidFill>
              <a:srgbClr val="E9B44C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3931920" y="5476565"/>
            <a:ext cx="77724" cy="75767"/>
          </a:xfrm>
          <a:prstGeom prst="line">
            <a:avLst/>
          </a:prstGeom>
          <a:noFill/>
          <a:ln w="22225">
            <a:solidFill>
              <a:srgbClr val="E9B44C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 flipV="1">
            <a:off x="4009644" y="5209986"/>
            <a:ext cx="77724" cy="342346"/>
          </a:xfrm>
          <a:prstGeom prst="line">
            <a:avLst/>
          </a:prstGeom>
          <a:noFill/>
          <a:ln w="22225">
            <a:solidFill>
              <a:srgbClr val="E9B44C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 flipV="1">
            <a:off x="4087368" y="5205130"/>
            <a:ext cx="77724" cy="4856"/>
          </a:xfrm>
          <a:prstGeom prst="line">
            <a:avLst/>
          </a:prstGeom>
          <a:noFill/>
          <a:ln w="22225">
            <a:solidFill>
              <a:srgbClr val="E9B44C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4165092" y="5205130"/>
            <a:ext cx="77724" cy="263101"/>
          </a:xfrm>
          <a:prstGeom prst="line">
            <a:avLst/>
          </a:prstGeom>
          <a:noFill/>
          <a:ln w="22225">
            <a:solidFill>
              <a:srgbClr val="E9B44C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4242816" y="5468231"/>
            <a:ext cx="77724" cy="12523"/>
          </a:xfrm>
          <a:prstGeom prst="line">
            <a:avLst/>
          </a:prstGeom>
          <a:noFill/>
          <a:ln w="22225">
            <a:solidFill>
              <a:srgbClr val="E9B44C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 flipV="1">
            <a:off x="4320540" y="5320699"/>
            <a:ext cx="77724" cy="160056"/>
          </a:xfrm>
          <a:prstGeom prst="line">
            <a:avLst/>
          </a:prstGeom>
          <a:noFill/>
          <a:ln w="22225">
            <a:solidFill>
              <a:srgbClr val="E9B44C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 flipV="1">
            <a:off x="4398264" y="4985397"/>
            <a:ext cx="77724" cy="335302"/>
          </a:xfrm>
          <a:prstGeom prst="line">
            <a:avLst/>
          </a:prstGeom>
          <a:noFill/>
          <a:ln w="22225">
            <a:solidFill>
              <a:srgbClr val="E9B44C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4475988" y="4985397"/>
            <a:ext cx="77724" cy="97057"/>
          </a:xfrm>
          <a:prstGeom prst="line">
            <a:avLst/>
          </a:prstGeom>
          <a:noFill/>
          <a:ln w="22225">
            <a:solidFill>
              <a:srgbClr val="E9B44C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4553712" y="5082454"/>
            <a:ext cx="77724" cy="269224"/>
          </a:xfrm>
          <a:prstGeom prst="line">
            <a:avLst/>
          </a:prstGeom>
          <a:noFill/>
          <a:ln w="22225">
            <a:solidFill>
              <a:srgbClr val="E9B44C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 flipV="1">
            <a:off x="4631436" y="5164968"/>
            <a:ext cx="77724" cy="186710"/>
          </a:xfrm>
          <a:prstGeom prst="line">
            <a:avLst/>
          </a:prstGeom>
          <a:noFill/>
          <a:ln w="22225">
            <a:solidFill>
              <a:srgbClr val="E9B44C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4709160" y="5164968"/>
            <a:ext cx="77724" cy="107405"/>
          </a:xfrm>
          <a:prstGeom prst="line">
            <a:avLst/>
          </a:prstGeom>
          <a:noFill/>
          <a:ln w="22225">
            <a:solidFill>
              <a:srgbClr val="E9B44C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4786884" y="5272373"/>
            <a:ext cx="77724" cy="89923"/>
          </a:xfrm>
          <a:prstGeom prst="line">
            <a:avLst/>
          </a:prstGeom>
          <a:noFill/>
          <a:ln w="22225">
            <a:solidFill>
              <a:srgbClr val="E9B44C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4864608" y="5362296"/>
            <a:ext cx="77724" cy="27973"/>
          </a:xfrm>
          <a:prstGeom prst="line">
            <a:avLst/>
          </a:prstGeom>
          <a:noFill/>
          <a:ln w="22225">
            <a:solidFill>
              <a:srgbClr val="E9B44C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4942332" y="5390269"/>
            <a:ext cx="77724" cy="21927"/>
          </a:xfrm>
          <a:prstGeom prst="line">
            <a:avLst/>
          </a:prstGeom>
          <a:noFill/>
          <a:ln w="22225">
            <a:solidFill>
              <a:srgbClr val="E9B44C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 flipV="1">
            <a:off x="5020056" y="5397831"/>
            <a:ext cx="77724" cy="14365"/>
          </a:xfrm>
          <a:prstGeom prst="line">
            <a:avLst/>
          </a:prstGeom>
          <a:noFill/>
          <a:ln w="22225">
            <a:solidFill>
              <a:srgbClr val="E9B44C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5097780" y="5397831"/>
            <a:ext cx="77724" cy="16912"/>
          </a:xfrm>
          <a:prstGeom prst="line">
            <a:avLst/>
          </a:prstGeom>
          <a:noFill/>
          <a:ln w="22225">
            <a:solidFill>
              <a:srgbClr val="E9B44C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 flipV="1">
            <a:off x="5175504" y="5313516"/>
            <a:ext cx="77724" cy="101228"/>
          </a:xfrm>
          <a:prstGeom prst="line">
            <a:avLst/>
          </a:prstGeom>
          <a:noFill/>
          <a:ln w="22225">
            <a:solidFill>
              <a:srgbClr val="E9B44C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5253228" y="5313516"/>
            <a:ext cx="77724" cy="18554"/>
          </a:xfrm>
          <a:prstGeom prst="line">
            <a:avLst/>
          </a:prstGeom>
          <a:noFill/>
          <a:ln w="22225">
            <a:solidFill>
              <a:srgbClr val="E9B44C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5330952" y="5332070"/>
            <a:ext cx="77724" cy="1987"/>
          </a:xfrm>
          <a:prstGeom prst="line">
            <a:avLst/>
          </a:prstGeom>
          <a:noFill/>
          <a:ln w="22225">
            <a:solidFill>
              <a:srgbClr val="E9B44C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 flipV="1">
            <a:off x="5408676" y="5303492"/>
            <a:ext cx="77724" cy="30565"/>
          </a:xfrm>
          <a:prstGeom prst="line">
            <a:avLst/>
          </a:prstGeom>
          <a:noFill/>
          <a:ln w="22225">
            <a:solidFill>
              <a:srgbClr val="E9B44C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 flipV="1">
            <a:off x="5486400" y="5293462"/>
            <a:ext cx="77724" cy="10030"/>
          </a:xfrm>
          <a:prstGeom prst="line">
            <a:avLst/>
          </a:prstGeom>
          <a:noFill/>
          <a:ln w="22225">
            <a:solidFill>
              <a:srgbClr val="E9B44C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 flipV="1">
            <a:off x="5564124" y="5291032"/>
            <a:ext cx="77724" cy="2430"/>
          </a:xfrm>
          <a:prstGeom prst="line">
            <a:avLst/>
          </a:prstGeom>
          <a:noFill/>
          <a:ln w="22225">
            <a:solidFill>
              <a:srgbClr val="E9B44C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 flipV="1">
            <a:off x="5641848" y="5282116"/>
            <a:ext cx="77724" cy="8916"/>
          </a:xfrm>
          <a:prstGeom prst="line">
            <a:avLst/>
          </a:prstGeom>
          <a:noFill/>
          <a:ln w="22225">
            <a:solidFill>
              <a:srgbClr val="E9B44C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5719572" y="5282116"/>
            <a:ext cx="77724" cy="41408"/>
          </a:xfrm>
          <a:prstGeom prst="line">
            <a:avLst/>
          </a:prstGeom>
          <a:noFill/>
          <a:ln w="22225">
            <a:solidFill>
              <a:srgbClr val="E9B44C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 flipV="1">
            <a:off x="5797296" y="5314616"/>
            <a:ext cx="77724" cy="8909"/>
          </a:xfrm>
          <a:prstGeom prst="line">
            <a:avLst/>
          </a:prstGeom>
          <a:noFill/>
          <a:ln w="22225">
            <a:solidFill>
              <a:srgbClr val="E9B44C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 flipV="1">
            <a:off x="5875020" y="5289461"/>
            <a:ext cx="77724" cy="25155"/>
          </a:xfrm>
          <a:prstGeom prst="line">
            <a:avLst/>
          </a:prstGeom>
          <a:noFill/>
          <a:ln w="22225">
            <a:solidFill>
              <a:srgbClr val="E9B44C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5952744" y="5289461"/>
            <a:ext cx="77724" cy="12086"/>
          </a:xfrm>
          <a:prstGeom prst="line">
            <a:avLst/>
          </a:prstGeom>
          <a:noFill/>
          <a:ln w="22225">
            <a:solidFill>
              <a:srgbClr val="E9B44C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6030468" y="5301547"/>
            <a:ext cx="77724" cy="4200"/>
          </a:xfrm>
          <a:prstGeom prst="line">
            <a:avLst/>
          </a:prstGeom>
          <a:noFill/>
          <a:ln w="22225">
            <a:solidFill>
              <a:srgbClr val="E9B44C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6108192" y="5305747"/>
            <a:ext cx="77724" cy="18006"/>
          </a:xfrm>
          <a:prstGeom prst="line">
            <a:avLst/>
          </a:prstGeom>
          <a:noFill/>
          <a:ln w="22225">
            <a:solidFill>
              <a:srgbClr val="E9B44C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 flipV="1">
            <a:off x="6185916" y="5303839"/>
            <a:ext cx="77724" cy="19914"/>
          </a:xfrm>
          <a:prstGeom prst="line">
            <a:avLst/>
          </a:prstGeom>
          <a:noFill/>
          <a:ln w="22225">
            <a:solidFill>
              <a:srgbClr val="E9B44C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6263640" y="5303839"/>
            <a:ext cx="77724" cy="3521"/>
          </a:xfrm>
          <a:prstGeom prst="line">
            <a:avLst/>
          </a:prstGeom>
          <a:noFill/>
          <a:ln w="22225">
            <a:solidFill>
              <a:srgbClr val="E9B44C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6341364" y="5307360"/>
            <a:ext cx="77724" cy="16821"/>
          </a:xfrm>
          <a:prstGeom prst="line">
            <a:avLst/>
          </a:prstGeom>
          <a:noFill/>
          <a:ln w="22225">
            <a:solidFill>
              <a:srgbClr val="E9B44C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 flipV="1">
            <a:off x="6419088" y="5288362"/>
            <a:ext cx="77724" cy="35820"/>
          </a:xfrm>
          <a:prstGeom prst="line">
            <a:avLst/>
          </a:prstGeom>
          <a:noFill/>
          <a:ln w="22225">
            <a:solidFill>
              <a:srgbClr val="E9B44C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6496812" y="5288362"/>
            <a:ext cx="77724" cy="21362"/>
          </a:xfrm>
          <a:prstGeom prst="line">
            <a:avLst/>
          </a:prstGeom>
          <a:noFill/>
          <a:ln w="22225">
            <a:solidFill>
              <a:srgbClr val="E9B44C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 flipV="1">
            <a:off x="6574536" y="5286421"/>
            <a:ext cx="77724" cy="23302"/>
          </a:xfrm>
          <a:prstGeom prst="line">
            <a:avLst/>
          </a:prstGeom>
          <a:noFill/>
          <a:ln w="22225">
            <a:solidFill>
              <a:srgbClr val="E9B44C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6652260" y="5286421"/>
            <a:ext cx="77724" cy="12884"/>
          </a:xfrm>
          <a:prstGeom prst="line">
            <a:avLst/>
          </a:prstGeom>
          <a:noFill/>
          <a:ln w="22225">
            <a:solidFill>
              <a:srgbClr val="E9B44C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6729984" y="5299306"/>
            <a:ext cx="77724" cy="21170"/>
          </a:xfrm>
          <a:prstGeom prst="line">
            <a:avLst/>
          </a:prstGeom>
          <a:noFill/>
          <a:ln w="22225">
            <a:solidFill>
              <a:srgbClr val="E9B44C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 flipV="1">
            <a:off x="6807708" y="5302403"/>
            <a:ext cx="77724" cy="18073"/>
          </a:xfrm>
          <a:prstGeom prst="line">
            <a:avLst/>
          </a:prstGeom>
          <a:noFill/>
          <a:ln w="22225">
            <a:solidFill>
              <a:srgbClr val="E9B44C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 flipV="1">
            <a:off x="6885432" y="5300096"/>
            <a:ext cx="77724" cy="2307"/>
          </a:xfrm>
          <a:prstGeom prst="line">
            <a:avLst/>
          </a:prstGeom>
          <a:noFill/>
          <a:ln w="22225">
            <a:solidFill>
              <a:srgbClr val="E9B44C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6963156" y="5300096"/>
            <a:ext cx="77724" cy="25579"/>
          </a:xfrm>
          <a:prstGeom prst="line">
            <a:avLst/>
          </a:prstGeom>
          <a:noFill/>
          <a:ln w="22225">
            <a:solidFill>
              <a:srgbClr val="E9B44C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7772400" y="1508760"/>
            <a:ext cx="548640" cy="548640"/>
          </a:xfrm>
          <a:prstGeom prst="ellipse">
            <a:avLst/>
          </a:prstGeom>
          <a:solidFill>
            <a:srgbClr val="1D7A8C"/>
          </a:solidFill>
          <a:ln w="12700">
            <a:solidFill>
              <a:srgbClr val="1D7A8C"/>
            </a:solidFill>
            <a:prstDash val="solid"/>
          </a:ln>
        </p:spPr>
      </p:sp>
      <p:pic>
        <p:nvPicPr>
          <p:cNvPr id="17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15046" y="1651406"/>
            <a:ext cx="263347" cy="263347"/>
          </a:xfrm>
          <a:prstGeom prst="rect">
            <a:avLst/>
          </a:prstGeom>
        </p:spPr>
      </p:pic>
      <p:sp>
        <p:nvSpPr>
          <p:cNvPr id="180" name="Text 177"/>
          <p:cNvSpPr txBox="1"/>
          <p:nvPr/>
        </p:nvSpPr>
        <p:spPr>
          <a:xfrm>
            <a:off x="8503920" y="1463040"/>
            <a:ext cx="31391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channeli</a:t>
            </a:r>
            <a:endParaRPr lang="en-US" sz="1500" dirty="0"/>
          </a:p>
        </p:txBody>
      </p:sp>
      <p:sp>
        <p:nvSpPr>
          <p:cNvPr id="181" name="Text 178"/>
          <p:cNvSpPr txBox="1"/>
          <p:nvPr/>
        </p:nvSpPr>
        <p:spPr>
          <a:xfrm>
            <a:off x="8503920" y="1792224"/>
            <a:ext cx="3139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dev_gal po channelu; 5 s bez telemetrije → offline</a:t>
            </a:r>
            <a:endParaRPr lang="en-US" sz="1200" dirty="0"/>
          </a:p>
        </p:txBody>
      </p:sp>
      <p:sp>
        <p:nvSpPr>
          <p:cNvPr id="182" name="Shape 179"/>
          <p:cNvSpPr/>
          <p:nvPr/>
        </p:nvSpPr>
        <p:spPr>
          <a:xfrm>
            <a:off x="7772400" y="2624328"/>
            <a:ext cx="548640" cy="548640"/>
          </a:xfrm>
          <a:prstGeom prst="ellipse">
            <a:avLst/>
          </a:prstGeom>
          <a:solidFill>
            <a:srgbClr val="1D7A8C"/>
          </a:solidFill>
          <a:ln w="12700">
            <a:solidFill>
              <a:srgbClr val="1D7A8C"/>
            </a:solidFill>
            <a:prstDash val="solid"/>
          </a:ln>
        </p:spPr>
      </p:sp>
      <p:pic>
        <p:nvPicPr>
          <p:cNvPr id="18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5046" y="2766974"/>
            <a:ext cx="263347" cy="263347"/>
          </a:xfrm>
          <a:prstGeom prst="rect">
            <a:avLst/>
          </a:prstGeom>
        </p:spPr>
      </p:pic>
      <p:sp>
        <p:nvSpPr>
          <p:cNvPr id="184" name="Text 180"/>
          <p:cNvSpPr txBox="1"/>
          <p:nvPr/>
        </p:nvSpPr>
        <p:spPr>
          <a:xfrm>
            <a:off x="8503920" y="2578608"/>
            <a:ext cx="31391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log</a:t>
            </a:r>
            <a:endParaRPr lang="en-US" sz="1500" dirty="0"/>
          </a:p>
        </p:txBody>
      </p:sp>
      <p:sp>
        <p:nvSpPr>
          <p:cNvPr id="185" name="Text 181"/>
          <p:cNvSpPr txBox="1"/>
          <p:nvPr/>
        </p:nvSpPr>
        <p:spPr>
          <a:xfrm>
            <a:off x="8503920" y="2907792"/>
            <a:ext cx="3139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Alarmi istaknuti, s estimated shindom</a:t>
            </a:r>
            <a:endParaRPr lang="en-US" sz="1200" dirty="0"/>
          </a:p>
        </p:txBody>
      </p:sp>
      <p:sp>
        <p:nvSpPr>
          <p:cNvPr id="186" name="Shape 182"/>
          <p:cNvSpPr/>
          <p:nvPr/>
        </p:nvSpPr>
        <p:spPr>
          <a:xfrm>
            <a:off x="7772400" y="3739896"/>
            <a:ext cx="548640" cy="54864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pic>
        <p:nvPicPr>
          <p:cNvPr id="18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5046" y="3882542"/>
            <a:ext cx="263347" cy="263347"/>
          </a:xfrm>
          <a:prstGeom prst="rect">
            <a:avLst/>
          </a:prstGeom>
        </p:spPr>
      </p:pic>
      <p:sp>
        <p:nvSpPr>
          <p:cNvPr id="188" name="Text 183"/>
          <p:cNvSpPr txBox="1"/>
          <p:nvPr/>
        </p:nvSpPr>
        <p:spPr>
          <a:xfrm>
            <a:off x="8503920" y="3694176"/>
            <a:ext cx="31391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counter</a:t>
            </a:r>
            <a:endParaRPr lang="en-US" sz="1500" dirty="0"/>
          </a:p>
        </p:txBody>
      </p:sp>
      <p:sp>
        <p:nvSpPr>
          <p:cNvPr id="189" name="Text 184"/>
          <p:cNvSpPr txBox="1"/>
          <p:nvPr/>
        </p:nvSpPr>
        <p:spPr>
          <a:xfrm>
            <a:off x="8503920" y="4023360"/>
            <a:ext cx="3139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Svaki event koji nije postao alarm bio bi na single-channel dizajnu false alarm. Headline brojka rada.</a:t>
            </a:r>
            <a:endParaRPr lang="en-US" sz="1200" dirty="0"/>
          </a:p>
        </p:txBody>
      </p:sp>
      <p:sp>
        <p:nvSpPr>
          <p:cNvPr id="190" name="Shape 185"/>
          <p:cNvSpPr/>
          <p:nvPr/>
        </p:nvSpPr>
        <p:spPr>
          <a:xfrm>
            <a:off x="7772400" y="4855464"/>
            <a:ext cx="548640" cy="548640"/>
          </a:xfrm>
          <a:prstGeom prst="ellipse">
            <a:avLst/>
          </a:prstGeom>
          <a:solidFill>
            <a:srgbClr val="1D7A8C"/>
          </a:solidFill>
          <a:ln w="12700">
            <a:solidFill>
              <a:srgbClr val="1D7A8C"/>
            </a:solidFill>
            <a:prstDash val="solid"/>
          </a:ln>
        </p:spPr>
      </p:sp>
      <p:pic>
        <p:nvPicPr>
          <p:cNvPr id="19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5046" y="4998110"/>
            <a:ext cx="263347" cy="263347"/>
          </a:xfrm>
          <a:prstGeom prst="rect">
            <a:avLst/>
          </a:prstGeom>
        </p:spPr>
      </p:pic>
      <p:sp>
        <p:nvSpPr>
          <p:cNvPr id="192" name="Text 186"/>
          <p:cNvSpPr txBox="1"/>
          <p:nvPr/>
        </p:nvSpPr>
        <p:spPr>
          <a:xfrm>
            <a:off x="8503920" y="4809744"/>
            <a:ext cx="31391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Oznaka „simulated“</a:t>
            </a:r>
            <a:endParaRPr lang="en-US" sz="1500" dirty="0"/>
          </a:p>
        </p:txBody>
      </p:sp>
      <p:sp>
        <p:nvSpPr>
          <p:cNvPr id="193" name="Text 187"/>
          <p:cNvSpPr txBox="1"/>
          <p:nvPr/>
        </p:nvSpPr>
        <p:spPr>
          <a:xfrm>
            <a:off x="8503920" y="5138928"/>
            <a:ext cx="3139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sim-, mock-, mirror- channeli vidljivo označeni</a:t>
            </a:r>
            <a:endParaRPr lang="en-US" sz="1200" dirty="0"/>
          </a:p>
        </p:txBody>
      </p:sp>
      <p:sp>
        <p:nvSpPr>
          <p:cNvPr id="194" name="Text 188"/>
          <p:cNvSpPr txBox="1"/>
          <p:nvPr/>
        </p:nvSpPr>
        <p:spPr>
          <a:xfrm>
            <a:off x="7772400" y="5943600"/>
            <a:ext cx="3870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Thingsboard ostaje spojen iza docker compose --profile cloud, ali ništa o njemu ne ovisi.</a:t>
            </a:r>
            <a:endParaRPr lang="en-US" sz="1100" dirty="0"/>
          </a:p>
        </p:txBody>
      </p:sp>
      <p:sp>
        <p:nvSpPr>
          <p:cNvPr id="195" name="Text 189"/>
          <p:cNvSpPr txBox="1"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 Radočaj · Fakultet informatike u Puli</a:t>
            </a:r>
            <a:endParaRPr lang="en-US" sz="1000" dirty="0"/>
          </a:p>
        </p:txBody>
      </p:sp>
      <p:sp>
        <p:nvSpPr>
          <p:cNvPr id="196" name="Text 190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Pure core + thin shell = testovi bez hardvera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4937760" cy="2057400"/>
          </a:xfrm>
          <a:prstGeom prst="roundRect">
            <a:avLst>
              <a:gd name="adj" fmla="val 5333"/>
            </a:avLst>
          </a:prstGeom>
          <a:solidFill>
            <a:srgbClr val="DDEFF2"/>
          </a:solidFill>
          <a:ln w="9525">
            <a:solidFill>
              <a:srgbClr val="E3E0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core (bez I/O-a, vrijeme kao parametar)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011680"/>
          <a:ext cx="43891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01168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61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firmware/node/detector.cpp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27432" marR="27432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bez Arduino headera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61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correlator/core.py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27432" marR="27432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bez networka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61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sim/detector.py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27432" marR="27432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port detectora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703320"/>
            <a:ext cx="4937760" cy="2057400"/>
          </a:xfrm>
          <a:prstGeom prst="roundRect">
            <a:avLst>
              <a:gd name="adj" fmla="val 5333"/>
            </a:avLst>
          </a:prstGeom>
          <a:solidFill>
            <a:srgbClr val="F6F4EF"/>
          </a:solidFill>
          <a:ln w="9525">
            <a:solidFill>
              <a:srgbClr val="E3E0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22960" y="38404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shell (Wire, WiFi, MQTT, HTTP)</a:t>
            </a:r>
            <a:endParaRPr lang="en-US" sz="14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4251960"/>
          <a:ext cx="43891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01168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61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firmware/node/node.ino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27432" marR="27432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Wire, WiFi, PubSubClient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61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correlator/main.py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27432" marR="27432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paho-mqtt, Thingsboard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61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dashboard/server.py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27432" marR="27432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MQTT + HTTP/SSE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5943600" y="13716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endParaRPr lang="en-US" sz="6000" dirty="0"/>
          </a:p>
        </p:txBody>
      </p:sp>
      <p:sp>
        <p:nvSpPr>
          <p:cNvPr id="10" name="Text 6"/>
          <p:cNvSpPr txBox="1"/>
          <p:nvPr/>
        </p:nvSpPr>
        <p:spPr>
          <a:xfrm>
            <a:off x="7772400" y="1417320"/>
            <a:ext cx="38706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automatizirana testa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C++ · 26 pytest</a:t>
            </a:r>
            <a:endParaRPr lang="en-US" sz="1500" dirty="0"/>
          </a:p>
        </p:txBody>
      </p:sp>
      <p:graphicFrame>
        <p:nvGraphicFramePr>
          <p:cNvPr id="28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2423160"/>
          <a:ext cx="569945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48640"/>
                <a:gridCol w="731520"/>
                <a:gridCol w="2041855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Suite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Broker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Dokazuje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6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test_detector.cpp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Algoritam u firmwareu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sim/test_parity.py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port = firmware (load-bearing test)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correlator/test_core.py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Correlation rule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sim/test_e2e.py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Mock node-ovi → alarm → buzzer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dashboard/test_dashboard.py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Agregacija statea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7"/>
          <p:cNvSpPr txBox="1"/>
          <p:nvPr/>
        </p:nvSpPr>
        <p:spPr>
          <a:xfrm>
            <a:off x="5943600" y="5120640"/>
            <a:ext cx="56994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Ako parity test padne, mock se razišao od firmwarea i simulacija prestaje nešto značiti.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 Radočaj · Fakultet informatike u Puli</a:t>
            </a:r>
            <a:endParaRPr lang="en-US" sz="1000" dirty="0"/>
          </a:p>
        </p:txBody>
      </p:sp>
      <p:sp>
        <p:nvSpPr>
          <p:cNvPr id="14" name="Text 9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Rezultati: noise floor 0,733 gal → threshold 7,33 gal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454298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3E0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481328"/>
            <a:ext cx="29056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0,733 gal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48840"/>
            <a:ext cx="29056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floor RMS, izmjereno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368698" y="1417320"/>
            <a:ext cx="3454298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3E0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643018" y="1481328"/>
            <a:ext cx="29056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3,295 gal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4643018" y="2148840"/>
            <a:ext cx="29056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u 177 s (4,5 σ)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188757" y="1417320"/>
            <a:ext cx="3454298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3E0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463077" y="1481328"/>
            <a:ext cx="29056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7,33 gal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8463077" y="2148840"/>
            <a:ext cx="29056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= 10× RMS</a:t>
            </a:r>
            <a:endParaRPr lang="en-US" sz="12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926080"/>
          <a:ext cx="64008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05840"/>
                <a:gridCol w="1188720"/>
                <a:gridCol w="914400"/>
                <a:gridCol w="192024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Multiplier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Threshold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Iznad / 177 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 satu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Shindo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6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2,20 gal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 donji rub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3,67 gal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E45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10× (odabran)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E45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7,33 gal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E45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E45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E45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(2,5–8 gal)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D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 txBox="1"/>
          <p:nvPr/>
        </p:nvSpPr>
        <p:spPr>
          <a:xfrm>
            <a:off x="548640" y="484632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Kalibracija 21. 8. 2026., board nepomičan na stolu, 177 s na 100 Hz, prve 3 s odbačene dok se EMA smiri. Sample rate potvrđen 100 Hz.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7315200" y="2926080"/>
            <a:ext cx="4327855" cy="306324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 w="9525">
            <a:solidFill>
              <a:srgbClr val="E3E0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7589520" y="3063240"/>
            <a:ext cx="3779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Što mjerenje pokazuje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7589520" y="3474720"/>
            <a:ext cx="3779215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Ispod predviđenih 0,9 gal → noise floor je sensor-dominated, ne building-dominated. DLPF na 5 Hz radi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5× (spec) odbačen: 3,67 gal naspram peaka 3,295 gal u tri minute tihe sobe; tail 4,5 σ je teži od Gaussovog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10× pada na 7,33 gal i ostaje unutar shindo 3. Konzervativni multiplier i shindo 3 više nisu u napetosti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floor: shindo 3+. Shindo 1–2 je ispod noise floora senzora: hardversko ograničenje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 Radočaj · Fakultet informatike u Puli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Ograničenja, navedena unaprijed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64328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E3E0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783080"/>
            <a:ext cx="685800" cy="685800"/>
          </a:xfrm>
          <a:prstGeom prst="ellipse">
            <a:avLst/>
          </a:prstGeom>
          <a:solidFill>
            <a:srgbClr val="14161C"/>
          </a:solidFill>
          <a:ln w="12700">
            <a:solidFill>
              <a:srgbClr val="14161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548" y="1961388"/>
            <a:ext cx="329184" cy="3291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1600200"/>
            <a:ext cx="4084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Drugi channel je simuliran</a:t>
            </a:r>
            <a:endParaRPr lang="en-US" sz="1450" dirty="0"/>
          </a:p>
        </p:txBody>
      </p:sp>
      <p:sp>
        <p:nvSpPr>
          <p:cNvPr id="7" name="Text 4"/>
          <p:cNvSpPr txBox="1"/>
          <p:nvPr/>
        </p:nvSpPr>
        <p:spPr>
          <a:xfrm>
            <a:off x="1645920" y="1965960"/>
            <a:ext cx="40841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Two-point fizička diskriminacija nije demonstrirana; protokol i correlation rule jesu.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278728" y="1463040"/>
            <a:ext cx="5364328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E3E0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507328" y="1783080"/>
            <a:ext cx="685800" cy="685800"/>
          </a:xfrm>
          <a:prstGeom prst="ellipse">
            <a:avLst/>
          </a:prstGeom>
          <a:solidFill>
            <a:srgbClr val="14161C"/>
          </a:solidFill>
          <a:ln w="12700">
            <a:solidFill>
              <a:srgbClr val="14161C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5636" y="1961388"/>
            <a:ext cx="329184" cy="32918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376008" y="1600200"/>
            <a:ext cx="4084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Stvarni potres neće podići alarm</a:t>
            </a:r>
            <a:endParaRPr lang="en-US" sz="1450" dirty="0"/>
          </a:p>
        </p:txBody>
      </p:sp>
      <p:sp>
        <p:nvSpPr>
          <p:cNvPr id="12" name="Text 8"/>
          <p:cNvSpPr txBox="1"/>
          <p:nvPr/>
        </p:nvSpPr>
        <p:spPr>
          <a:xfrm>
            <a:off x="7376008" y="1965960"/>
            <a:ext cx="40841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Trese samo stvarni node; simulirani channel triggera se ručno. Dokaz: event log + JMA.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48640" y="3017520"/>
            <a:ext cx="5364328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E3E0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77240" y="3337560"/>
            <a:ext cx="685800" cy="685800"/>
          </a:xfrm>
          <a:prstGeom prst="ellipse">
            <a:avLst/>
          </a:prstGeom>
          <a:solidFill>
            <a:srgbClr val="14161C"/>
          </a:solidFill>
          <a:ln w="12700">
            <a:solidFill>
              <a:srgbClr val="14161C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548" y="3515868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645920" y="3154680"/>
            <a:ext cx="4084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Korelacija odbija samo channel-local noise</a:t>
            </a:r>
            <a:endParaRPr lang="en-US" sz="1450" dirty="0"/>
          </a:p>
        </p:txBody>
      </p:sp>
      <p:sp>
        <p:nvSpPr>
          <p:cNvPr id="17" name="Text 12"/>
          <p:cNvSpPr txBox="1"/>
          <p:nvPr/>
        </p:nvSpPr>
        <p:spPr>
          <a:xfrm>
            <a:off x="1645920" y="3520440"/>
            <a:ext cx="40841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Koraci se prenose podom do svih senzora i koreliraju. To odbija samo amplitude threshold.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278728" y="3017520"/>
            <a:ext cx="5364328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E3E0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507328" y="3337560"/>
            <a:ext cx="685800" cy="685800"/>
          </a:xfrm>
          <a:prstGeom prst="ellipse">
            <a:avLst/>
          </a:prstGeom>
          <a:solidFill>
            <a:srgbClr val="14161C"/>
          </a:solidFill>
          <a:ln w="12700">
            <a:solidFill>
              <a:srgbClr val="14161C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5636" y="3515868"/>
            <a:ext cx="329184" cy="32918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376008" y="3154680"/>
            <a:ext cx="4084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Nema epicentra</a:t>
            </a:r>
            <a:endParaRPr lang="en-US" sz="1450" dirty="0"/>
          </a:p>
        </p:txBody>
      </p:sp>
      <p:sp>
        <p:nvSpPr>
          <p:cNvPr id="22" name="Text 16"/>
          <p:cNvSpPr txBox="1"/>
          <p:nvPr/>
        </p:nvSpPr>
        <p:spPr>
          <a:xfrm>
            <a:off x="7376008" y="3520440"/>
            <a:ext cx="40841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Traži sub-millisecond timing; WiFi to ne daje, jedan senzor pogotovo.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548640" y="4572000"/>
            <a:ext cx="5364328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E3E0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777240" y="4892040"/>
            <a:ext cx="685800" cy="685800"/>
          </a:xfrm>
          <a:prstGeom prst="ellipse">
            <a:avLst/>
          </a:prstGeom>
          <a:solidFill>
            <a:srgbClr val="14161C"/>
          </a:solidFill>
          <a:ln w="12700">
            <a:solidFill>
              <a:srgbClr val="14161C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548" y="5070348"/>
            <a:ext cx="329184" cy="329184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645920" y="4709160"/>
            <a:ext cx="4084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Nema službenog shinda ni magnitude</a:t>
            </a:r>
            <a:endParaRPr lang="en-US" sz="1450" dirty="0"/>
          </a:p>
        </p:txBody>
      </p:sp>
      <p:sp>
        <p:nvSpPr>
          <p:cNvPr id="27" name="Text 20"/>
          <p:cNvSpPr txBox="1"/>
          <p:nvPr/>
        </p:nvSpPr>
        <p:spPr>
          <a:xfrm>
            <a:off x="1645920" y="5074920"/>
            <a:ext cx="40841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Samo peak akceleracija u gal i estimated intenzitet.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6278728" y="4572000"/>
            <a:ext cx="5364328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E3E0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6507328" y="4892040"/>
            <a:ext cx="685800" cy="685800"/>
          </a:xfrm>
          <a:prstGeom prst="ellipse">
            <a:avLst/>
          </a:prstGeom>
          <a:solidFill>
            <a:srgbClr val="14161C"/>
          </a:solidFill>
          <a:ln w="12700">
            <a:solidFill>
              <a:srgbClr val="14161C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5636" y="5070348"/>
            <a:ext cx="329184" cy="329184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7376008" y="4709160"/>
            <a:ext cx="4084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floor oko shindo 3</a:t>
            </a:r>
            <a:endParaRPr lang="en-US" sz="1450" dirty="0"/>
          </a:p>
        </p:txBody>
      </p:sp>
      <p:sp>
        <p:nvSpPr>
          <p:cNvPr id="32" name="Text 24"/>
          <p:cNvSpPr txBox="1"/>
          <p:nvPr/>
        </p:nvSpPr>
        <p:spPr>
          <a:xfrm>
            <a:off x="7376008" y="5074920"/>
            <a:ext cx="40841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Određen izmjerenim noise floorom MPU6050 od 0,733 gal RMS.</a:t>
            </a:r>
            <a:endParaRPr lang="en-US" sz="1200" dirty="0"/>
          </a:p>
        </p:txBody>
      </p:sp>
      <p:sp>
        <p:nvSpPr>
          <p:cNvPr id="33" name="Text 25"/>
          <p:cNvSpPr txBox="1"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 Radočaj · Fakultet informatike u Puli</a:t>
            </a:r>
            <a:endParaRPr lang="en-US" sz="1000" dirty="0"/>
          </a:p>
        </p:txBody>
      </p:sp>
      <p:sp>
        <p:nvSpPr>
          <p:cNvPr id="34" name="Text 26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Zaključak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454298" cy="3017520"/>
          </a:xfrm>
          <a:prstGeom prst="roundRect">
            <a:avLst>
              <a:gd name="adj" fmla="val 3636"/>
            </a:avLst>
          </a:prstGeom>
          <a:solidFill>
            <a:srgbClr val="232733"/>
          </a:solidFill>
          <a:ln w="12700">
            <a:solidFill>
              <a:srgbClr val="2E33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737360"/>
            <a:ext cx="731520" cy="731520"/>
          </a:xfrm>
          <a:prstGeom prst="ellipse">
            <a:avLst/>
          </a:prstGeom>
          <a:solidFill>
            <a:srgbClr val="1D7A8C"/>
          </a:solidFill>
          <a:ln w="12700">
            <a:solidFill>
              <a:srgbClr val="1D7A8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155" y="1927555"/>
            <a:ext cx="351130" cy="35113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651760"/>
            <a:ext cx="29056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core ≠ shell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154680"/>
            <a:ext cx="290565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5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automatizirana testa za hardverski projekt. Većina bugova nađena prije nego što je hardver stigao.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368698" y="1463040"/>
            <a:ext cx="3454298" cy="3017520"/>
          </a:xfrm>
          <a:prstGeom prst="roundRect">
            <a:avLst>
              <a:gd name="adj" fmla="val 3636"/>
            </a:avLst>
          </a:prstGeom>
          <a:solidFill>
            <a:srgbClr val="232733"/>
          </a:solidFill>
          <a:ln w="12700">
            <a:solidFill>
              <a:srgbClr val="2E334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643018" y="1737360"/>
            <a:ext cx="731520" cy="73152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3214" y="1927555"/>
            <a:ext cx="351130" cy="35113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43018" y="2651760"/>
            <a:ext cx="29056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Mjeriti, ne pretpostavljati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4643018" y="3154680"/>
            <a:ext cx="290565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5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Izmjerenih 0,733 gal preokrenulo je preporuku iz speca (5× → 10×) i pokazalo da je floor sensor-dominated.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8188757" y="1463040"/>
            <a:ext cx="3454298" cy="3017520"/>
          </a:xfrm>
          <a:prstGeom prst="roundRect">
            <a:avLst>
              <a:gd name="adj" fmla="val 3636"/>
            </a:avLst>
          </a:prstGeom>
          <a:solidFill>
            <a:srgbClr val="232733"/>
          </a:solidFill>
          <a:ln w="12700">
            <a:solidFill>
              <a:srgbClr val="2E334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463077" y="1737360"/>
            <a:ext cx="731520" cy="731520"/>
          </a:xfrm>
          <a:prstGeom prst="ellipse">
            <a:avLst/>
          </a:prstGeom>
          <a:solidFill>
            <a:srgbClr val="1D7A8C"/>
          </a:solidFill>
          <a:ln w="12700">
            <a:solidFill>
              <a:srgbClr val="1D7A8C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3272" y="1927555"/>
            <a:ext cx="351130" cy="35113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463077" y="2651760"/>
            <a:ext cx="29056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Poštenje na razini protokola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8463077" y="3154680"/>
            <a:ext cx="290565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5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sim- i mirror- prefiksi: nijedan log, dashboard ni report ne može mirror prikazati kao drugu postaju.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548640" y="4709160"/>
            <a:ext cx="1109441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Isporučeno: </a:t>
            </a:r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100 Hz s band-limitom u senzoru · EMA detection s warm-upom i refractory periodom · MQTT contract s tri topica · correlator „2 channela u 2 s“ · lokalni dashboard neovisan o internetu.</a:t>
            </a:r>
            <a:endParaRPr lang="en-US" sz="13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Sljedeći korak: </a:t>
            </a:r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drugi MPU6050 na 0x69 (AD0 high) ili drugi ESP32. Oboje drop-in bez izmjene koda; tek time se demonstrira stvarna two-point diskriminacija.</a:t>
            </a:r>
            <a:endParaRPr lang="en-US" sz="135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Izvori: Community Seismic Network (Caltech) · MyShake (Berkeley) · JMA Seismic Intensity Scale · InvenSense MPU-6050 datasheet · OASIS MQTT 5.0 · Eclipse Mosquitto · Espressif ESP32 datasheet · SEMINAR.md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 Radočaj · Fakultet informatike u Puli</a:t>
            </a:r>
            <a:endParaRPr lang="en-US" sz="1000" dirty="0"/>
          </a:p>
        </p:txBody>
      </p:sp>
      <p:sp>
        <p:nvSpPr>
          <p:cNvPr id="21" name="Text 16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Umreženi sustav za detekciju potresa</dc:title>
  <dc:subject>PptxGenJS Presentation</dc:subject>
  <dc:creator>Leo Radočaj</dc:creator>
  <cp:lastModifiedBy>Leo Radočaj</cp:lastModifiedBy>
  <cp:revision>1</cp:revision>
  <dcterms:created xsi:type="dcterms:W3CDTF">2026-09-22T06:48:37Z</dcterms:created>
  <dcterms:modified xsi:type="dcterms:W3CDTF">2026-09-22T06:48:37Z</dcterms:modified>
</cp:coreProperties>
</file>